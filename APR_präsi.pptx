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9" r:id="rId2"/>
    <p:sldId id="262" r:id="rId3"/>
    <p:sldId id="258" r:id="rId4"/>
    <p:sldId id="263" r:id="rId5"/>
    <p:sldId id="264" r:id="rId6"/>
    <p:sldId id="265" r:id="rId7"/>
    <p:sldId id="261" r:id="rId8"/>
    <p:sldId id="267" r:id="rId9"/>
    <p:sldId id="266" r:id="rId10"/>
    <p:sldId id="268" r:id="rId11"/>
    <p:sldId id="269" r:id="rId12"/>
    <p:sldId id="270" r:id="rId13"/>
    <p:sldId id="271" r:id="rId14"/>
    <p:sldId id="272" r:id="rId15"/>
    <p:sldId id="25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2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484C79-5B91-4812-86F3-45BDF76ABDC4}" type="datetimeFigureOut">
              <a:rPr lang="de-DE" smtClean="0"/>
              <a:t>12.12.2025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844832-784F-467D-915A-9CCC8522526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077102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empfangen: </a:t>
            </a:r>
          </a:p>
          <a:p>
            <a:r>
              <a:rPr lang="de-DE" dirty="0"/>
              <a:t>Zuerst muss eine TCP-Verbindung mit dem </a:t>
            </a:r>
            <a:r>
              <a:rPr lang="de-DE" dirty="0" err="1"/>
              <a:t>Turtlebot</a:t>
            </a:r>
            <a:r>
              <a:rPr lang="de-DE" dirty="0"/>
              <a:t> erstellt werden. Dazu wird ein Websocket angelegt, der </a:t>
            </a:r>
            <a:r>
              <a:rPr lang="de-DE" dirty="0" err="1"/>
              <a:t>Sockaddress</a:t>
            </a:r>
            <a:r>
              <a:rPr lang="de-DE" dirty="0"/>
              <a:t> </a:t>
            </a:r>
            <a:r>
              <a:rPr lang="de-DE" dirty="0" err="1"/>
              <a:t>setup</a:t>
            </a:r>
            <a:r>
              <a:rPr lang="de-DE" dirty="0"/>
              <a:t> durchgeführt und die Connection hergestellt. Für alle drei Schritte werden eigene Fehlermeldungen ausgegeben, wenn ein Error auftritt.</a:t>
            </a:r>
          </a:p>
          <a:p>
            <a:r>
              <a:rPr lang="de-DE" dirty="0"/>
              <a:t>Read loop: </a:t>
            </a:r>
          </a:p>
          <a:p>
            <a:r>
              <a:rPr lang="de-DE" dirty="0"/>
              <a:t>Es wird nach der vollen Nachricht gesucht. Das wird realisiert indem nach den Start- und End-Tags gesucht wird. Dann wird die Message extrahiert. Werden die tags nicht gefunden, geht die Message verloren</a:t>
            </a:r>
          </a:p>
          <a:p>
            <a:endParaRPr lang="de-DE" dirty="0"/>
          </a:p>
          <a:p>
            <a:r>
              <a:rPr lang="de-DE" dirty="0"/>
              <a:t>Senden: </a:t>
            </a:r>
          </a:p>
          <a:p>
            <a:r>
              <a:rPr lang="de-DE" dirty="0"/>
              <a:t>TCP-Verbindung läuft gleich ab wie beim empfangen</a:t>
            </a:r>
          </a:p>
          <a:p>
            <a:r>
              <a:rPr lang="de-DE" dirty="0" err="1"/>
              <a:t>Sendloop</a:t>
            </a:r>
            <a:r>
              <a:rPr lang="de-DE" dirty="0"/>
              <a:t>: </a:t>
            </a:r>
          </a:p>
          <a:p>
            <a:r>
              <a:rPr lang="de-DE" dirty="0"/>
              <a:t>Hier wird sichergestellt, dass alle </a:t>
            </a:r>
            <a:r>
              <a:rPr lang="de-DE" dirty="0" err="1"/>
              <a:t>bytes</a:t>
            </a:r>
            <a:r>
              <a:rPr lang="de-DE" dirty="0"/>
              <a:t> versendet werden. </a:t>
            </a:r>
          </a:p>
          <a:p>
            <a:r>
              <a:rPr lang="de-DE" dirty="0"/>
              <a:t>Wenn während der send loop ein Socket-Error auftritt, wird eine Error Message „send() </a:t>
            </a:r>
            <a:r>
              <a:rPr lang="de-DE" dirty="0" err="1"/>
              <a:t>failed</a:t>
            </a:r>
            <a:r>
              <a:rPr lang="de-DE" dirty="0"/>
              <a:t>“ ausgegeben</a:t>
            </a:r>
            <a:r>
              <a:rPr lang="en-GB" dirty="0"/>
              <a:t>. Socket </a:t>
            </a:r>
            <a:r>
              <a:rPr lang="en-GB" dirty="0" err="1"/>
              <a:t>wird</a:t>
            </a:r>
            <a:r>
              <a:rPr lang="en-GB" dirty="0"/>
              <a:t> </a:t>
            </a:r>
            <a:r>
              <a:rPr lang="en-GB" dirty="0" err="1"/>
              <a:t>danach</a:t>
            </a:r>
            <a:r>
              <a:rPr lang="en-GB" dirty="0"/>
              <a:t> </a:t>
            </a:r>
            <a:r>
              <a:rPr lang="en-GB" dirty="0" err="1"/>
              <a:t>geschlossen</a:t>
            </a:r>
            <a:r>
              <a:rPr lang="en-GB" dirty="0"/>
              <a:t>. 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6CE501-E3E8-4973-B456-C91EC12ECF18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73497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Diese Funktion dient als Schnittstelle zwischen dem Linearen Regler und dem </a:t>
            </a:r>
            <a:r>
              <a:rPr lang="de-DE" dirty="0" err="1"/>
              <a:t>Turtlebot</a:t>
            </a:r>
            <a:r>
              <a:rPr lang="de-DE" dirty="0"/>
              <a:t>. </a:t>
            </a:r>
          </a:p>
          <a:p>
            <a:r>
              <a:rPr lang="de-DE" dirty="0"/>
              <a:t>Die Lineare Geschwindigkeit und die Winkelgeschwindigkeit die vom </a:t>
            </a:r>
            <a:r>
              <a:rPr lang="de-DE" dirty="0" err="1"/>
              <a:t>Controll</a:t>
            </a:r>
            <a:r>
              <a:rPr lang="de-DE" dirty="0"/>
              <a:t>-thread basierend auf der Goal-Position berechnet werden, wird als Input aufgenommen und wird in eine </a:t>
            </a:r>
            <a:r>
              <a:rPr lang="de-DE" dirty="0" err="1"/>
              <a:t>Controll</a:t>
            </a:r>
            <a:r>
              <a:rPr lang="de-DE" dirty="0"/>
              <a:t> </a:t>
            </a:r>
            <a:r>
              <a:rPr lang="de-DE" dirty="0" err="1"/>
              <a:t>message</a:t>
            </a:r>
            <a:r>
              <a:rPr lang="de-DE" dirty="0"/>
              <a:t> für den </a:t>
            </a:r>
            <a:r>
              <a:rPr lang="de-DE" dirty="0" err="1"/>
              <a:t>TurtleBot</a:t>
            </a:r>
            <a:r>
              <a:rPr lang="de-DE" dirty="0"/>
              <a:t> umgewandelt. Sodass der </a:t>
            </a:r>
            <a:r>
              <a:rPr lang="de-DE" dirty="0" err="1"/>
              <a:t>Turtlebot</a:t>
            </a:r>
            <a:r>
              <a:rPr lang="de-DE" dirty="0"/>
              <a:t> die Befehle lesen kann. Dafür für muss man die start- und end tags hinzufügen und zeigen, was die Lineare Geschwindigkeit und was die Winkelgeschwindigkeit ist. </a:t>
            </a:r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6CE501-E3E8-4973-B456-C91EC12ECF18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82054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Titelmasterformat durch Klicken bearbeiten</a:t>
            </a:r>
            <a:endParaRPr lang="en-GB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05995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GB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C82F5-4BEC-4C6D-AC7E-0EBE1A7D0913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5CC27-B294-42F1-A53F-8B1BF24D38A0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536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Titelmasterformat durch Klicken bearbeiten</a:t>
            </a:r>
            <a:endParaRPr lang="en-GB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C82F5-4BEC-4C6D-AC7E-0EBE1A7D0913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5CC27-B294-42F1-A53F-8B1BF24D38A0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20313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GB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C82F5-4BEC-4C6D-AC7E-0EBE1A7D0913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5CC27-B294-42F1-A53F-8B1BF24D38A0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76804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en-GB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C82F5-4BEC-4C6D-AC7E-0EBE1A7D0913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5CC27-B294-42F1-A53F-8B1BF24D38A0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9233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GB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C82F5-4BEC-4C6D-AC7E-0EBE1A7D0913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5CC27-B294-42F1-A53F-8B1BF24D38A0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63123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C82F5-4BEC-4C6D-AC7E-0EBE1A7D0913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5CC27-B294-42F1-A53F-8B1BF24D38A0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5556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  <a:endParaRPr lang="en-GB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C82F5-4BEC-4C6D-AC7E-0EBE1A7D0913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5CC27-B294-42F1-A53F-8B1BF24D38A0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35076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  <a:endParaRPr lang="en-GB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C82F5-4BEC-4C6D-AC7E-0EBE1A7D0913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5CC27-B294-42F1-A53F-8B1BF24D38A0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67985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GB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C82F5-4BEC-4C6D-AC7E-0EBE1A7D0913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5CC27-B294-42F1-A53F-8B1BF24D38A0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3148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  <a:endParaRPr lang="en-GB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C82F5-4BEC-4C6D-AC7E-0EBE1A7D0913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5CC27-B294-42F1-A53F-8B1BF24D38A0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18566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  <a:endParaRPr lang="en-GB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FC82F5-4BEC-4C6D-AC7E-0EBE1A7D0913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35CC27-B294-42F1-A53F-8B1BF24D38A0}" type="slidenum">
              <a:rPr lang="en-GB" smtClean="0"/>
              <a:t>‹Nr.›</a:t>
            </a:fld>
            <a:endParaRPr lang="en-GB"/>
          </a:p>
        </p:txBody>
      </p:sp>
      <p:pic>
        <p:nvPicPr>
          <p:cNvPr id="7" name="Grafik 6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6516" y="5105840"/>
            <a:ext cx="2798028" cy="1969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937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C4B8E4-5F1F-BD4E-7D85-9BF6F8ECD9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b="1" dirty="0">
                <a:latin typeface="Bahnschrift" panose="020B0502040204020203" pitchFamily="34" charset="0"/>
              </a:rPr>
              <a:t>Donatello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FA8C0A6-35B0-3C02-94FA-1B34CDA0F9D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>
                <a:latin typeface="Bahnschrift" panose="020B0502040204020203" pitchFamily="34" charset="0"/>
              </a:rPr>
              <a:t>Baut eine Karte</a:t>
            </a:r>
          </a:p>
        </p:txBody>
      </p:sp>
    </p:spTree>
    <p:extLst>
      <p:ext uri="{BB962C8B-B14F-4D97-AF65-F5344CB8AC3E}">
        <p14:creationId xmlns:p14="http://schemas.microsoft.com/office/powerpoint/2010/main" val="33382941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729CD4F-4575-69A9-0035-D7438C4A7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latin typeface="Bahnschrift" panose="020B0502040204020203" pitchFamily="34" charset="0"/>
              </a:rPr>
              <a:t>Sein Team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279B8488-7429-F196-2694-91C27E907E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0591" y="3724679"/>
            <a:ext cx="1415157" cy="1404101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AE57AF7C-FEF9-A8E2-C877-688E2931A0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5656" y="1676712"/>
            <a:ext cx="1402931" cy="141625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DF4E28D0-6060-238C-AC16-84E8ABC859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4381" y="3724679"/>
            <a:ext cx="1292911" cy="141341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10AA50C7-47ED-FB9E-FA3D-A01E010138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07035" y="1676712"/>
            <a:ext cx="1368198" cy="1365203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FDC311B8-82F0-0A16-93CC-055C62C560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7116" y="1690688"/>
            <a:ext cx="1358922" cy="1337253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344C28BF-34EB-02AD-678A-1B018494D1CF}"/>
              </a:ext>
            </a:extLst>
          </p:cNvPr>
          <p:cNvSpPr txBox="1"/>
          <p:nvPr/>
        </p:nvSpPr>
        <p:spPr>
          <a:xfrm>
            <a:off x="471381" y="3016251"/>
            <a:ext cx="27303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b="1" dirty="0"/>
              <a:t>Philipp Riegler</a:t>
            </a:r>
            <a:endParaRPr lang="de-DE" dirty="0"/>
          </a:p>
          <a:p>
            <a:pPr algn="ctr"/>
            <a:r>
              <a:rPr lang="de-DE" dirty="0" err="1"/>
              <a:t>Kommunikationspezialist</a:t>
            </a:r>
            <a:endParaRPr lang="de-DE" dirty="0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C2811DDD-2D5F-E390-6A86-020892084514}"/>
              </a:ext>
            </a:extLst>
          </p:cNvPr>
          <p:cNvSpPr txBox="1"/>
          <p:nvPr/>
        </p:nvSpPr>
        <p:spPr>
          <a:xfrm>
            <a:off x="4624672" y="3042318"/>
            <a:ext cx="19248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b="1" dirty="0"/>
              <a:t>Victor </a:t>
            </a:r>
            <a:r>
              <a:rPr lang="de-DE" b="1" dirty="0" err="1"/>
              <a:t>Swekis</a:t>
            </a:r>
            <a:endParaRPr lang="de-DE" dirty="0"/>
          </a:p>
          <a:p>
            <a:pPr algn="ctr"/>
            <a:r>
              <a:rPr lang="de-DE" dirty="0"/>
              <a:t>Positionsgenie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E4C66221-13E6-DFDA-97F9-63C5B9AD420F}"/>
              </a:ext>
            </a:extLst>
          </p:cNvPr>
          <p:cNvSpPr txBox="1"/>
          <p:nvPr/>
        </p:nvSpPr>
        <p:spPr>
          <a:xfrm>
            <a:off x="8628685" y="3078348"/>
            <a:ext cx="19248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b="1" dirty="0"/>
              <a:t>Rainhard Wipp</a:t>
            </a:r>
            <a:endParaRPr lang="de-DE" dirty="0"/>
          </a:p>
          <a:p>
            <a:pPr algn="ctr"/>
            <a:r>
              <a:rPr lang="de-DE" dirty="0"/>
              <a:t>Regelungschef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1E19DFB0-1731-D065-FFB8-9D258AC4DAE0}"/>
              </a:ext>
            </a:extLst>
          </p:cNvPr>
          <p:cNvSpPr txBox="1"/>
          <p:nvPr/>
        </p:nvSpPr>
        <p:spPr>
          <a:xfrm>
            <a:off x="2671853" y="5089730"/>
            <a:ext cx="19248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b="1" dirty="0"/>
              <a:t>Merle </a:t>
            </a:r>
            <a:r>
              <a:rPr lang="de-DE" b="1" dirty="0" err="1"/>
              <a:t>Rehpeen</a:t>
            </a:r>
            <a:endParaRPr lang="de-DE" dirty="0"/>
          </a:p>
          <a:p>
            <a:pPr algn="ctr"/>
            <a:r>
              <a:rPr lang="de-DE" dirty="0" err="1"/>
              <a:t>Threadsmeisterin</a:t>
            </a:r>
            <a:endParaRPr lang="de-DE" dirty="0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6F074E9E-C11A-559B-6DF3-9E1750D69280}"/>
              </a:ext>
            </a:extLst>
          </p:cNvPr>
          <p:cNvSpPr txBox="1"/>
          <p:nvPr/>
        </p:nvSpPr>
        <p:spPr>
          <a:xfrm>
            <a:off x="6703787" y="5089729"/>
            <a:ext cx="19248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b="1" dirty="0"/>
              <a:t>Felix Leonbacher</a:t>
            </a:r>
            <a:endParaRPr lang="de-DE" dirty="0"/>
          </a:p>
          <a:p>
            <a:pPr algn="ctr"/>
            <a:r>
              <a:rPr lang="de-DE" dirty="0"/>
              <a:t>Kartenmacher</a:t>
            </a:r>
          </a:p>
        </p:txBody>
      </p:sp>
    </p:spTree>
    <p:extLst>
      <p:ext uri="{BB962C8B-B14F-4D97-AF65-F5344CB8AC3E}">
        <p14:creationId xmlns:p14="http://schemas.microsoft.com/office/powerpoint/2010/main" val="28045448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350FD6-A500-1771-E32F-A70C24507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>
                <a:latin typeface="Bahnschrift" panose="020B0502040204020203" pitchFamily="34" charset="0"/>
              </a:rPr>
              <a:t>Linearer Regler - Konzept</a:t>
            </a:r>
            <a:endParaRPr lang="de-AT" dirty="0">
              <a:latin typeface="Bahnschrift" panose="020B05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96120B20-B0D4-0569-05B7-1D7D34A252B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de-AT" b="1" dirty="0"/>
                  <a:t>Eingänge</a:t>
                </a:r>
                <a:endParaRPr lang="de-AT" dirty="0"/>
              </a:p>
              <a:p>
                <a:pPr lvl="1"/>
                <a:r>
                  <a:rPr lang="de-AT" dirty="0" err="1"/>
                  <a:t>Zielpose</a:t>
                </a:r>
                <a:r>
                  <a:rPr lang="de-AT" dirty="0"/>
                  <a:t> 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sub>
                        </m:sSub>
                      </m:e>
                    </m:d>
                  </m:oMath>
                </a14:m>
                <a:endParaRPr lang="ar-AE" dirty="0"/>
              </a:p>
              <a:p>
                <a:pPr lvl="1"/>
                <a:r>
                  <a:rPr lang="de-AT" dirty="0"/>
                  <a:t>Aktuelle Pose 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endParaRPr lang="ar-AE" dirty="0"/>
              </a:p>
              <a:p>
                <a:r>
                  <a:rPr lang="de-AT" b="1" dirty="0"/>
                  <a:t>Ausgänge</a:t>
                </a:r>
                <a:endParaRPr lang="de-AT" dirty="0"/>
              </a:p>
              <a:p>
                <a:pPr lvl="1"/>
                <a:r>
                  <a:rPr lang="de-AT" dirty="0"/>
                  <a:t>Lineargeschwindigkeit </a:t>
                </a:r>
                <a14:m>
                  <m:oMath xmlns:m="http://schemas.openxmlformats.org/officeDocument/2006/math">
                    <m:r>
                      <a:rPr lang="de-AT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endParaRPr lang="de-AT" dirty="0"/>
              </a:p>
              <a:p>
                <a:pPr lvl="1"/>
                <a:r>
                  <a:rPr lang="de-AT" dirty="0"/>
                  <a:t>Winkelgeschwindigkeit </a:t>
                </a:r>
                <a14:m>
                  <m:oMath xmlns:m="http://schemas.openxmlformats.org/officeDocument/2006/math">
                    <m:r>
                      <a:rPr lang="de-AT" i="1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endParaRPr lang="de-AT" dirty="0"/>
              </a:p>
              <a:p>
                <a:r>
                  <a:rPr lang="de-AT" b="1" dirty="0"/>
                  <a:t>Ablauf pro Zyklus</a:t>
                </a:r>
                <a:endParaRPr lang="de-AT" dirty="0"/>
              </a:p>
              <a:p>
                <a:pPr lvl="1"/>
                <a:r>
                  <a:rPr lang="de-AT" dirty="0"/>
                  <a:t>Pose aktualisieren</a:t>
                </a:r>
              </a:p>
              <a:p>
                <a:pPr lvl="1"/>
                <a:r>
                  <a:rPr lang="de-AT" dirty="0"/>
                  <a:t>Zielerreichung prüfen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de-AT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de-AT">
                        <a:latin typeface="Cambria Math" panose="02040503050406030204" pitchFamily="18" charset="0"/>
                      </a:rPr>
                      <m:t>,</m:t>
                    </m:r>
                    <m:r>
                      <a:rPr lang="de-AT" i="1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de-AT" dirty="0"/>
                  <a:t> berechnen und ausgeben</a:t>
                </a:r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96120B20-B0D4-0569-05B7-1D7D34A252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b="-1961"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Grafik 4">
            <a:extLst>
              <a:ext uri="{FF2B5EF4-FFF2-40B4-BE49-F238E27FC236}">
                <a16:creationId xmlns:a16="http://schemas.microsoft.com/office/drawing/2014/main" id="{CA044469-423D-15D6-F6A5-0828CE61B8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9701" y="5347927"/>
            <a:ext cx="1368198" cy="1365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8282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B419BD-1E06-5ADD-312E-7AAF9BDCE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353800" cy="1325563"/>
          </a:xfrm>
        </p:spPr>
        <p:txBody>
          <a:bodyPr/>
          <a:lstStyle/>
          <a:p>
            <a:r>
              <a:rPr lang="de-DE" b="1" dirty="0">
                <a:latin typeface="Bahnschrift" panose="020B0502040204020203" pitchFamily="34" charset="0"/>
              </a:rPr>
              <a:t>Linearer Regler - </a:t>
            </a:r>
            <a:r>
              <a:rPr lang="de-AT" b="1" dirty="0">
                <a:latin typeface="Bahnschrift" panose="020B0502040204020203" pitchFamily="34" charset="0"/>
              </a:rPr>
              <a:t>Regelprinzip Pose </a:t>
            </a:r>
            <a:r>
              <a:rPr lang="de-AT" b="1" dirty="0" err="1">
                <a:latin typeface="Bahnschrift" panose="020B0502040204020203" pitchFamily="34" charset="0"/>
              </a:rPr>
              <a:t>to</a:t>
            </a:r>
            <a:r>
              <a:rPr lang="de-AT" b="1" dirty="0">
                <a:latin typeface="Bahnschrift" panose="020B0502040204020203" pitchFamily="34" charset="0"/>
              </a:rPr>
              <a:t> Pose</a:t>
            </a:r>
            <a:endParaRPr lang="de-AT" dirty="0">
              <a:latin typeface="Bahnschrift" panose="020B05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9D5D79AE-AA9F-DB23-00F3-3B5FFF1B6F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de-AT" dirty="0"/>
                  <a:t>Geometrische Fehlergrößen: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de-AT" i="1">
                        <a:latin typeface="Cambria Math" panose="02040503050406030204" pitchFamily="18" charset="0"/>
                      </a:rPr>
                      <m:t>𝜌</m:t>
                    </m:r>
                    <m:r>
                      <a:rPr lang="de-AT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d>
                          <m:dPr>
                            <m:endChr m:val="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sub>
                            </m:s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sSup>
                              <m:s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"/>
                                    <m:endChr m:val=""/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+</m:t>
                            </m:r>
                            <m:d>
                              <m:dPr>
                                <m:endChr m:val="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sub>
                                </m:sSub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sSup>
                                  <m:sSup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"/>
                                        <m:endChr m:val=""/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ar-AE"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d>
                          </m:e>
                        </m:d>
                      </m:e>
                    </m:rad>
                  </m:oMath>
                </a14:m>
                <a:endParaRPr lang="ar-AE" dirty="0"/>
              </a:p>
              <a:p>
                <a:pPr lvl="1"/>
                <a14:m>
                  <m:oMath xmlns:m="http://schemas.openxmlformats.org/officeDocument/2006/math">
                    <m:r>
                      <a:rPr lang="ar-AE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de-AT">
                        <a:latin typeface="Cambria Math" panose="02040503050406030204" pitchFamily="18" charset="0"/>
                      </a:rPr>
                      <m:t>wrap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de-AT">
                            <a:latin typeface="Cambria Math" panose="02040503050406030204" pitchFamily="18" charset="0"/>
                          </a:rPr>
                          <m:t>atan</m:t>
                        </m:r>
                        <m:r>
                          <a:rPr lang="de-AT">
                            <a:latin typeface="Cambria Math" panose="02040503050406030204" pitchFamily="18" charset="0"/>
                          </a:rPr>
                          <m:t>2</m:t>
                        </m:r>
                        <m:d>
                          <m:dPr>
                            <m:sepChr m:val=",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sub>
                            </m:sSub>
                          </m:e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sub>
                            </m:s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endParaRPr lang="ar-AE" dirty="0"/>
              </a:p>
              <a:p>
                <a:pPr lvl="1"/>
                <a14:m>
                  <m:oMath xmlns:m="http://schemas.openxmlformats.org/officeDocument/2006/math">
                    <m:r>
                      <a:rPr lang="ar-AE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de-AT">
                        <a:latin typeface="Cambria Math" panose="02040503050406030204" pitchFamily="18" charset="0"/>
                      </a:rPr>
                      <m:t>wrap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</m:oMath>
                </a14:m>
                <a:endParaRPr lang="ar-AE" dirty="0"/>
              </a:p>
              <a:p>
                <a:r>
                  <a:rPr lang="de-AT" dirty="0"/>
                  <a:t>Steuergesetz: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de-AT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de-AT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𝜌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⋅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endParaRPr lang="ar-AE" dirty="0"/>
              </a:p>
              <a:p>
                <a:pPr lvl="1"/>
                <a14:m>
                  <m:oMath xmlns:m="http://schemas.openxmlformats.org/officeDocument/2006/math">
                    <m:r>
                      <a:rPr lang="ar-AE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⋅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𝛽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⋅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endParaRPr lang="ar-AE" dirty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AT">
                        <a:latin typeface="Cambria Math" panose="02040503050406030204" pitchFamily="18" charset="0"/>
                      </a:rPr>
                      <m:t>wrap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AT" b="0" i="1" smtClean="0"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</m:d>
                    <m:r>
                      <a:rPr lang="de-AT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de-AT" dirty="0"/>
                  <a:t>normiert Winkel auf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</m:oMath>
                </a14:m>
                <a:r>
                  <a:rPr lang="de-AT" dirty="0"/>
                  <a:t> für stabiles Drehen ohne Sprünge</a:t>
                </a:r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9D5D79AE-AA9F-DB23-00F3-3B5FFF1B6F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Grafik 4">
            <a:extLst>
              <a:ext uri="{FF2B5EF4-FFF2-40B4-BE49-F238E27FC236}">
                <a16:creationId xmlns:a16="http://schemas.microsoft.com/office/drawing/2014/main" id="{271A4D4A-716D-1B29-BA19-E336EBE899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9701" y="5347927"/>
            <a:ext cx="1368198" cy="1365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701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A72F1D-671C-43B4-5619-6BEA27ACE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281913" cy="1325563"/>
          </a:xfrm>
        </p:spPr>
        <p:txBody>
          <a:bodyPr/>
          <a:lstStyle/>
          <a:p>
            <a:r>
              <a:rPr lang="de-DE" b="1" dirty="0">
                <a:latin typeface="Bahnschrift" panose="020B0502040204020203" pitchFamily="34" charset="0"/>
              </a:rPr>
              <a:t>Linearer Regler - </a:t>
            </a:r>
            <a:r>
              <a:rPr lang="de-AT" b="1" dirty="0" err="1">
                <a:latin typeface="Bahnschrift" panose="020B0502040204020203" pitchFamily="34" charset="0"/>
              </a:rPr>
              <a:t>Sicherheits</a:t>
            </a:r>
            <a:r>
              <a:rPr lang="de-AT" b="1" dirty="0">
                <a:latin typeface="Bahnschrift" panose="020B0502040204020203" pitchFamily="34" charset="0"/>
              </a:rPr>
              <a:t> und Ziel Logik</a:t>
            </a:r>
            <a:endParaRPr lang="de-AT" dirty="0">
              <a:latin typeface="Bahnschrift" panose="020B05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58A7640A-1495-9ABC-07CC-F92AC525A5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de-AT" b="1" dirty="0"/>
                  <a:t>Begrenzung der Geschwindigkeiten</a:t>
                </a:r>
                <a:endParaRPr lang="de-AT" dirty="0"/>
              </a:p>
              <a:p>
                <a:pPr lvl="1"/>
                <a14:m>
                  <m:oMath xmlns:m="http://schemas.openxmlformats.org/officeDocument/2006/math">
                    <m:r>
                      <a:rPr lang="de-AT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de-AT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ar-AE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de-AT" b="0" i="1" smtClean="0">
                                <a:latin typeface="Cambria Math" panose="02040503050406030204" pitchFamily="18" charset="0"/>
                              </a:rPr>
                              <m:t>𝑚𝑎𝑥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de-AT" b="0" i="1" smtClean="0">
                                <a:latin typeface="Cambria Math" panose="02040503050406030204" pitchFamily="18" charset="0"/>
                              </a:rPr>
                              <m:t>𝑚𝑎𝑥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, 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ar-AE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de-AT" b="0" i="1" smtClean="0">
                                <a:latin typeface="Cambria Math" panose="02040503050406030204" pitchFamily="18" charset="0"/>
                              </a:rPr>
                              <m:t>𝑚𝑎𝑥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de-AT" b="0" i="1" smtClean="0">
                                <a:latin typeface="Cambria Math" panose="02040503050406030204" pitchFamily="18" charset="0"/>
                              </a:rPr>
                              <m:t>𝑚𝑎𝑥</m:t>
                            </m:r>
                          </m:sub>
                        </m:sSub>
                      </m:e>
                    </m:d>
                  </m:oMath>
                </a14:m>
                <a:endParaRPr lang="ar-AE" dirty="0"/>
              </a:p>
              <a:p>
                <a:pPr lvl="1"/>
                <a:r>
                  <a:rPr lang="de-AT" dirty="0"/>
                  <a:t>mit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de-AT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3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ar-AE" i="1"/>
                      <m:t>  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de-AT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3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ar-AE" dirty="0"/>
              </a:p>
              <a:p>
                <a:r>
                  <a:rPr lang="de-AT" b="1" dirty="0"/>
                  <a:t>Ziel erreicht Kriterium</a:t>
                </a:r>
                <a:endParaRPr lang="de-AT" dirty="0"/>
              </a:p>
              <a:p>
                <a:pPr lvl="1"/>
                <a14:m>
                  <m:oMath xmlns:m="http://schemas.openxmlformats.org/officeDocument/2006/math">
                    <m:r>
                      <a:rPr lang="de-AT" i="1">
                        <a:latin typeface="Cambria Math" panose="02040503050406030204" pitchFamily="18" charset="0"/>
                      </a:rPr>
                      <m:t>𝜌</m:t>
                    </m:r>
                    <m:r>
                      <a:rPr lang="de-AT">
                        <a:latin typeface="Cambria Math" panose="02040503050406030204" pitchFamily="18" charset="0"/>
                      </a:rPr>
                      <m:t>≤</m:t>
                    </m:r>
                    <m:r>
                      <a:rPr lang="de-AT">
                        <a:latin typeface="Cambria Math" panose="02040503050406030204" pitchFamily="18" charset="0"/>
                      </a:rPr>
                      <m:t>0</m:t>
                    </m:r>
                    <m:r>
                      <a:rPr lang="de-AT">
                        <a:latin typeface="Cambria Math" panose="02040503050406030204" pitchFamily="18" charset="0"/>
                      </a:rPr>
                      <m:t>.</m:t>
                    </m:r>
                    <m:r>
                      <a:rPr lang="de-AT">
                        <a:latin typeface="Cambria Math" panose="02040503050406030204" pitchFamily="18" charset="0"/>
                      </a:rPr>
                      <m:t>05</m:t>
                    </m:r>
                  </m:oMath>
                </a14:m>
                <a:endParaRPr lang="de-AT" dirty="0"/>
              </a:p>
              <a:p>
                <a:pPr lvl="1"/>
                <a:r>
                  <a:rPr lang="de-AT" dirty="0"/>
                  <a:t>Wenn Ziel erreicht, wird ein </a:t>
                </a:r>
                <a:r>
                  <a:rPr lang="de-AT" dirty="0" err="1"/>
                  <a:t>Flag</a:t>
                </a:r>
                <a:r>
                  <a:rPr lang="de-AT" dirty="0"/>
                  <a:t> gesetzt, damit der Ablauf stoppen oder zum nächsten </a:t>
                </a:r>
                <a:r>
                  <a:rPr lang="de-AT" dirty="0" err="1"/>
                  <a:t>Waypoint</a:t>
                </a:r>
                <a:r>
                  <a:rPr lang="de-AT" dirty="0"/>
                  <a:t> wechseln kann</a:t>
                </a:r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58A7640A-1495-9ABC-07CC-F92AC525A5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Grafik 4">
            <a:extLst>
              <a:ext uri="{FF2B5EF4-FFF2-40B4-BE49-F238E27FC236}">
                <a16:creationId xmlns:a16="http://schemas.microsoft.com/office/drawing/2014/main" id="{8649B60E-C55C-3981-C2C3-FCDA896323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9701" y="5347927"/>
            <a:ext cx="1368198" cy="1365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0166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B04E77B-94B3-CC93-A67E-3CFAA6691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>
                <a:latin typeface="Bahnschrift" panose="020B0502040204020203" pitchFamily="34" charset="0"/>
              </a:rPr>
              <a:t>Connection - Aufgabe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7D2EA7B-055C-80F1-8CBA-5A9ECF4503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TCP-Verbindung, um mit </a:t>
            </a:r>
            <a:r>
              <a:rPr lang="de-DE" dirty="0" err="1"/>
              <a:t>Turtlebot</a:t>
            </a:r>
            <a:r>
              <a:rPr lang="de-DE" dirty="0"/>
              <a:t> zu kommunizieren</a:t>
            </a:r>
          </a:p>
          <a:p>
            <a:r>
              <a:rPr lang="de-DE" dirty="0"/>
              <a:t>Sensor Messages (Lidar &amp; </a:t>
            </a:r>
            <a:r>
              <a:rPr lang="de-DE" dirty="0" err="1"/>
              <a:t>Odometrie</a:t>
            </a:r>
            <a:r>
              <a:rPr lang="de-DE" dirty="0"/>
              <a:t>) empfangen</a:t>
            </a:r>
          </a:p>
          <a:p>
            <a:r>
              <a:rPr lang="de-DE" dirty="0"/>
              <a:t>Lidar Message interpretieren</a:t>
            </a:r>
          </a:p>
          <a:p>
            <a:r>
              <a:rPr lang="de-DE" dirty="0" err="1"/>
              <a:t>Controll</a:t>
            </a:r>
            <a:r>
              <a:rPr lang="de-DE" dirty="0"/>
              <a:t> Message senden</a:t>
            </a:r>
          </a:p>
          <a:p>
            <a:r>
              <a:rPr lang="de-DE" dirty="0" err="1"/>
              <a:t>Controll</a:t>
            </a:r>
            <a:r>
              <a:rPr lang="de-DE" dirty="0"/>
              <a:t> Werte (linear- und angular </a:t>
            </a:r>
            <a:r>
              <a:rPr lang="de-DE" dirty="0" err="1"/>
              <a:t>speed</a:t>
            </a:r>
            <a:r>
              <a:rPr lang="de-DE" dirty="0"/>
              <a:t>) vom </a:t>
            </a:r>
            <a:r>
              <a:rPr lang="de-DE" dirty="0" err="1"/>
              <a:t>Controll</a:t>
            </a:r>
            <a:r>
              <a:rPr lang="de-DE" dirty="0"/>
              <a:t>-thread in eine Message umwandeln</a:t>
            </a:r>
          </a:p>
          <a:p>
            <a:endParaRPr lang="de-DE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C280CAE5-2BC7-02ED-862A-7D0342BF0A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9701" y="5347927"/>
            <a:ext cx="1358922" cy="1337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796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3309E9-829B-C2E5-83B8-04A6F0B6E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>
                <a:latin typeface="Bahnschrift" panose="020B0502040204020203" pitchFamily="34" charset="0"/>
              </a:rPr>
              <a:t>Connection - Messages</a:t>
            </a:r>
            <a:endParaRPr lang="en-GB" b="1" dirty="0">
              <a:latin typeface="Bahnschrift" panose="020B0502040204020203" pitchFamily="34" charset="0"/>
            </a:endParaRP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AC917F0-8C3E-4E33-CD5C-69207B9397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1" y="1429608"/>
            <a:ext cx="5157787" cy="522160"/>
          </a:xfrm>
        </p:spPr>
        <p:txBody>
          <a:bodyPr/>
          <a:lstStyle/>
          <a:p>
            <a:r>
              <a:rPr lang="de-DE" dirty="0"/>
              <a:t>Messages empfangen</a:t>
            </a:r>
            <a:endParaRPr lang="en-GB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CFBD067-C2EC-9DB9-C926-AACE82406E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6611" y="2463832"/>
            <a:ext cx="5157787" cy="3684588"/>
          </a:xfrm>
        </p:spPr>
        <p:txBody>
          <a:bodyPr/>
          <a:lstStyle/>
          <a:p>
            <a:r>
              <a:rPr lang="de-DE" b="1" dirty="0"/>
              <a:t>TCP-Verbindung erstellen:</a:t>
            </a:r>
          </a:p>
          <a:p>
            <a:pPr lvl="1"/>
            <a:r>
              <a:rPr lang="de-DE" dirty="0"/>
              <a:t>Websocket anlegen</a:t>
            </a:r>
          </a:p>
          <a:p>
            <a:pPr lvl="1"/>
            <a:r>
              <a:rPr lang="de-DE" dirty="0" err="1"/>
              <a:t>Sockaddr</a:t>
            </a:r>
            <a:r>
              <a:rPr lang="de-DE" dirty="0"/>
              <a:t> </a:t>
            </a:r>
            <a:r>
              <a:rPr lang="de-DE" dirty="0" err="1"/>
              <a:t>setup</a:t>
            </a:r>
            <a:r>
              <a:rPr lang="de-DE" dirty="0"/>
              <a:t> durchführen</a:t>
            </a:r>
          </a:p>
          <a:p>
            <a:pPr lvl="1"/>
            <a:r>
              <a:rPr lang="de-DE" dirty="0"/>
              <a:t>Connect</a:t>
            </a:r>
          </a:p>
          <a:p>
            <a:r>
              <a:rPr lang="de-DE" b="1" dirty="0"/>
              <a:t>Read loop:</a:t>
            </a:r>
          </a:p>
          <a:p>
            <a:pPr lvl="1"/>
            <a:r>
              <a:rPr lang="de-DE" dirty="0" err="1"/>
              <a:t>Full</a:t>
            </a:r>
            <a:r>
              <a:rPr lang="de-DE" dirty="0"/>
              <a:t> </a:t>
            </a:r>
            <a:r>
              <a:rPr lang="de-DE" dirty="0" err="1"/>
              <a:t>message</a:t>
            </a:r>
            <a:r>
              <a:rPr lang="de-DE" dirty="0"/>
              <a:t> </a:t>
            </a:r>
            <a:r>
              <a:rPr lang="de-DE" dirty="0" err="1"/>
              <a:t>search</a:t>
            </a:r>
            <a:r>
              <a:rPr lang="de-DE" dirty="0"/>
              <a:t> (nach Start- und End-Tags suchen)</a:t>
            </a:r>
          </a:p>
          <a:p>
            <a:pPr lvl="1"/>
            <a:r>
              <a:rPr lang="de-DE" dirty="0"/>
              <a:t>Message extrahieren</a:t>
            </a:r>
            <a:endParaRPr lang="en-GB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2931889-B895-427B-E04D-4F247B600F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9024" y="1429608"/>
            <a:ext cx="5183188" cy="522160"/>
          </a:xfrm>
        </p:spPr>
        <p:txBody>
          <a:bodyPr/>
          <a:lstStyle/>
          <a:p>
            <a:r>
              <a:rPr lang="de-DE" dirty="0"/>
              <a:t>Messages senden</a:t>
            </a:r>
            <a:endParaRPr lang="en-GB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95599C2-2238-B482-3FB9-954EF8F096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97606" y="2463832"/>
            <a:ext cx="5183188" cy="3684588"/>
          </a:xfrm>
        </p:spPr>
        <p:txBody>
          <a:bodyPr/>
          <a:lstStyle/>
          <a:p>
            <a:r>
              <a:rPr lang="de-DE" b="1" dirty="0"/>
              <a:t>TCP-Verbindung:</a:t>
            </a:r>
          </a:p>
          <a:p>
            <a:pPr lvl="1"/>
            <a:r>
              <a:rPr lang="de-DE" dirty="0"/>
              <a:t>Analog zu empfangen</a:t>
            </a:r>
          </a:p>
          <a:p>
            <a:pPr lvl="1"/>
            <a:endParaRPr lang="de-DE" dirty="0"/>
          </a:p>
          <a:p>
            <a:pPr lvl="1"/>
            <a:endParaRPr lang="de-DE" dirty="0"/>
          </a:p>
          <a:p>
            <a:r>
              <a:rPr lang="de-DE" b="1" dirty="0"/>
              <a:t>Send loop: </a:t>
            </a:r>
          </a:p>
          <a:p>
            <a:pPr lvl="1"/>
            <a:r>
              <a:rPr lang="de-DE" dirty="0"/>
              <a:t>Sicherstellen, dass alles </a:t>
            </a:r>
            <a:r>
              <a:rPr lang="de-DE" dirty="0" err="1"/>
              <a:t>bytes</a:t>
            </a:r>
            <a:r>
              <a:rPr lang="de-DE" dirty="0"/>
              <a:t> gesendet wurden</a:t>
            </a:r>
            <a:endParaRPr lang="en-GB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81CC269-32EB-358C-60B8-876CD18AB3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9701" y="5347927"/>
            <a:ext cx="1358922" cy="1337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0331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2B10F4-BE5F-2D6C-9AC4-094FE3ED4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>
                <a:latin typeface="Bahnschrift" panose="020B0502040204020203" pitchFamily="34" charset="0"/>
              </a:rPr>
              <a:t>Connection - Auswerten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A4EFA67-7AD1-4F9E-D0FF-D1D2973CEE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42" y="4196757"/>
            <a:ext cx="10515600" cy="4351338"/>
          </a:xfrm>
        </p:spPr>
        <p:txBody>
          <a:bodyPr>
            <a:normAutofit/>
          </a:bodyPr>
          <a:lstStyle/>
          <a:p>
            <a:endParaRPr lang="de-DE" dirty="0"/>
          </a:p>
          <a:p>
            <a:endParaRPr lang="de-DE" dirty="0"/>
          </a:p>
          <a:p>
            <a:endParaRPr lang="de-DE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0123AE37-7B4B-CF83-B252-D3C952E4C84A}"/>
              </a:ext>
            </a:extLst>
          </p:cNvPr>
          <p:cNvSpPr txBox="1"/>
          <p:nvPr/>
        </p:nvSpPr>
        <p:spPr>
          <a:xfrm>
            <a:off x="838200" y="2620557"/>
            <a:ext cx="2122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Message Empfangen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00B10AE2-C4C5-CC0A-F9C8-B70822F42D08}"/>
              </a:ext>
            </a:extLst>
          </p:cNvPr>
          <p:cNvSpPr txBox="1"/>
          <p:nvPr/>
        </p:nvSpPr>
        <p:spPr>
          <a:xfrm>
            <a:off x="1647645" y="3868112"/>
            <a:ext cx="35655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de-DE" dirty="0"/>
              <a:t>Nachrichtenrahmen extrahieren</a:t>
            </a:r>
          </a:p>
          <a:p>
            <a:pPr marL="0" indent="0" algn="ctr">
              <a:buNone/>
            </a:pPr>
            <a:r>
              <a:rPr lang="de-DE" dirty="0"/>
              <a:t>START- und END-Tags finden</a:t>
            </a:r>
          </a:p>
          <a:p>
            <a:pPr marL="0" indent="0" algn="ctr">
              <a:buNone/>
            </a:pPr>
            <a:r>
              <a:rPr lang="de-DE" dirty="0"/>
              <a:t>JSON-Text ausschneiden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81523D38-9D76-F2EB-62FB-080A1B356013}"/>
              </a:ext>
            </a:extLst>
          </p:cNvPr>
          <p:cNvSpPr txBox="1"/>
          <p:nvPr/>
        </p:nvSpPr>
        <p:spPr>
          <a:xfrm>
            <a:off x="5213230" y="2482057"/>
            <a:ext cx="35655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JSON parsen:</a:t>
            </a:r>
          </a:p>
          <a:p>
            <a:pPr algn="ctr"/>
            <a:r>
              <a:rPr lang="de-DE" dirty="0" err="1"/>
              <a:t>picojson</a:t>
            </a:r>
            <a:r>
              <a:rPr lang="de-DE" dirty="0"/>
              <a:t>::parse aufrufen</a:t>
            </a:r>
          </a:p>
          <a:p>
            <a:pPr algn="ctr"/>
            <a:r>
              <a:rPr lang="de-DE" dirty="0"/>
              <a:t>Typprüfung (</a:t>
            </a:r>
            <a:r>
              <a:rPr lang="de-DE" dirty="0" err="1"/>
              <a:t>object</a:t>
            </a:r>
            <a:r>
              <a:rPr lang="de-DE" dirty="0"/>
              <a:t>) durchführen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9D451512-A550-18EE-E8AE-7388F75F335F}"/>
              </a:ext>
            </a:extLst>
          </p:cNvPr>
          <p:cNvSpPr txBox="1"/>
          <p:nvPr/>
        </p:nvSpPr>
        <p:spPr>
          <a:xfrm>
            <a:off x="6573330" y="3914722"/>
            <a:ext cx="421687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core</a:t>
            </a:r>
            <a:r>
              <a:rPr lang="de-DE" dirty="0"/>
              <a:t>::</a:t>
            </a:r>
            <a:r>
              <a:rPr lang="de-DE" dirty="0" err="1"/>
              <a:t>LidarScan</a:t>
            </a:r>
            <a:r>
              <a:rPr lang="de-DE" dirty="0"/>
              <a:t> füllen:</a:t>
            </a:r>
          </a:p>
          <a:p>
            <a:pPr algn="ctr"/>
            <a:r>
              <a:rPr lang="de-DE" dirty="0" err="1"/>
              <a:t>angle_min</a:t>
            </a:r>
            <a:r>
              <a:rPr lang="de-DE" dirty="0"/>
              <a:t>, </a:t>
            </a:r>
            <a:r>
              <a:rPr lang="de-DE" dirty="0" err="1"/>
              <a:t>angle_increment</a:t>
            </a:r>
            <a:r>
              <a:rPr lang="de-DE" dirty="0"/>
              <a:t>,</a:t>
            </a:r>
          </a:p>
          <a:p>
            <a:pPr algn="ctr"/>
            <a:r>
              <a:rPr lang="de-DE" dirty="0" err="1"/>
              <a:t>range_min</a:t>
            </a:r>
            <a:r>
              <a:rPr lang="de-DE" dirty="0"/>
              <a:t>, </a:t>
            </a:r>
            <a:r>
              <a:rPr lang="de-DE" dirty="0" err="1"/>
              <a:t>range_max</a:t>
            </a:r>
            <a:r>
              <a:rPr lang="de-DE" dirty="0"/>
              <a:t>,</a:t>
            </a:r>
          </a:p>
          <a:p>
            <a:pPr algn="ctr"/>
            <a:r>
              <a:rPr lang="de-DE" dirty="0" err="1"/>
              <a:t>ranges</a:t>
            </a:r>
            <a:r>
              <a:rPr lang="de-DE" dirty="0"/>
              <a:t>-Array einlesen</a:t>
            </a:r>
          </a:p>
          <a:p>
            <a:pPr algn="ctr"/>
            <a:r>
              <a:rPr lang="de-DE" dirty="0"/>
              <a:t>Pose initialisieren</a:t>
            </a:r>
          </a:p>
        </p:txBody>
      </p:sp>
      <p:sp>
        <p:nvSpPr>
          <p:cNvPr id="8" name="Pfeil: nach rechts 7">
            <a:extLst>
              <a:ext uri="{FF2B5EF4-FFF2-40B4-BE49-F238E27FC236}">
                <a16:creationId xmlns:a16="http://schemas.microsoft.com/office/drawing/2014/main" id="{6639662A-02D0-E3C2-B7DC-9FED2F409CB7}"/>
              </a:ext>
            </a:extLst>
          </p:cNvPr>
          <p:cNvSpPr/>
          <p:nvPr/>
        </p:nvSpPr>
        <p:spPr>
          <a:xfrm rot="3044138">
            <a:off x="2351528" y="3346715"/>
            <a:ext cx="732720" cy="419224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Pfeil: nach rechts 8">
            <a:extLst>
              <a:ext uri="{FF2B5EF4-FFF2-40B4-BE49-F238E27FC236}">
                <a16:creationId xmlns:a16="http://schemas.microsoft.com/office/drawing/2014/main" id="{6D88A2C5-92A2-33C3-48B8-261AD210D73D}"/>
              </a:ext>
            </a:extLst>
          </p:cNvPr>
          <p:cNvSpPr/>
          <p:nvPr/>
        </p:nvSpPr>
        <p:spPr>
          <a:xfrm rot="19195606">
            <a:off x="4885404" y="3450444"/>
            <a:ext cx="732720" cy="419224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Pfeil: nach rechts 9">
            <a:extLst>
              <a:ext uri="{FF2B5EF4-FFF2-40B4-BE49-F238E27FC236}">
                <a16:creationId xmlns:a16="http://schemas.microsoft.com/office/drawing/2014/main" id="{0B093393-F1A0-A39C-5AD3-6A1FE5CC45AE}"/>
              </a:ext>
            </a:extLst>
          </p:cNvPr>
          <p:cNvSpPr/>
          <p:nvPr/>
        </p:nvSpPr>
        <p:spPr>
          <a:xfrm rot="3044138">
            <a:off x="6877017" y="3612087"/>
            <a:ext cx="732720" cy="419224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BBB04267-96BE-1E84-C9A4-5BD10D4E73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9701" y="5347927"/>
            <a:ext cx="1358922" cy="1337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572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C3CCB2-78F4-E062-6100-78D7B5B89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>
                <a:latin typeface="Bahnschrift" panose="020B0502040204020203" pitchFamily="34" charset="0"/>
              </a:rPr>
              <a:t>Connection - </a:t>
            </a:r>
            <a:r>
              <a:rPr lang="de-DE" b="1" dirty="0" err="1">
                <a:latin typeface="Bahnschrift" panose="020B0502040204020203" pitchFamily="34" charset="0"/>
              </a:rPr>
              <a:t>Controll</a:t>
            </a:r>
            <a:r>
              <a:rPr lang="de-DE" b="1" dirty="0">
                <a:latin typeface="Bahnschrift" panose="020B0502040204020203" pitchFamily="34" charset="0"/>
              </a:rPr>
              <a:t> Message</a:t>
            </a:r>
            <a:endParaRPr lang="en-GB" b="1" dirty="0">
              <a:latin typeface="Bahnschrift" panose="020B0502040204020203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50B17E94-6B20-8E3D-6517-B36020724A0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de-AT" b="1" dirty="0"/>
                  <a:t>Eingang</a:t>
                </a:r>
                <a:endParaRPr lang="de-AT" dirty="0"/>
              </a:p>
              <a:p>
                <a:pPr lvl="1"/>
                <a:r>
                  <a:rPr lang="de-DE" dirty="0" err="1"/>
                  <a:t>ControlOutput</a:t>
                </a:r>
                <a:endParaRPr lang="de-DE" dirty="0"/>
              </a:p>
              <a:p>
                <a:pPr lvl="2"/>
                <a:r>
                  <a:rPr lang="de-AT" dirty="0"/>
                  <a:t>Lineargeschwindigkeit </a:t>
                </a:r>
                <a14:m>
                  <m:oMath xmlns:m="http://schemas.openxmlformats.org/officeDocument/2006/math">
                    <m:r>
                      <a:rPr lang="de-AT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endParaRPr lang="de-AT" dirty="0"/>
              </a:p>
              <a:p>
                <a:pPr lvl="2"/>
                <a:r>
                  <a:rPr lang="de-AT" dirty="0"/>
                  <a:t>Winkelgeschwindigkeit </a:t>
                </a:r>
                <a14:m>
                  <m:oMath xmlns:m="http://schemas.openxmlformats.org/officeDocument/2006/math">
                    <m:r>
                      <a:rPr lang="de-AT" i="1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endParaRPr lang="ar-AE" dirty="0"/>
              </a:p>
              <a:p>
                <a:r>
                  <a:rPr lang="de-AT" b="1" dirty="0"/>
                  <a:t>Ausgänge</a:t>
                </a:r>
              </a:p>
              <a:p>
                <a:pPr lvl="1"/>
                <a:r>
                  <a:rPr lang="de-AT" dirty="0" err="1"/>
                  <a:t>Controll_mesage</a:t>
                </a:r>
                <a:r>
                  <a:rPr lang="de-AT" dirty="0"/>
                  <a:t> (</a:t>
                </a:r>
                <a:r>
                  <a:rPr lang="de-AT" dirty="0" err="1"/>
                  <a:t>string</a:t>
                </a:r>
                <a:r>
                  <a:rPr lang="de-AT" dirty="0"/>
                  <a:t>)</a:t>
                </a:r>
              </a:p>
            </p:txBody>
          </p:sp>
        </mc:Choice>
        <mc:Fallback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50B17E94-6B20-8E3D-6517-B36020724A0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Grafik 3">
            <a:extLst>
              <a:ext uri="{FF2B5EF4-FFF2-40B4-BE49-F238E27FC236}">
                <a16:creationId xmlns:a16="http://schemas.microsoft.com/office/drawing/2014/main" id="{742D9319-317D-260F-1F28-C4AE725C4C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9701" y="5347927"/>
            <a:ext cx="1358922" cy="1337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3886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B6379D-3C98-0DBA-E9B8-B071EB8A9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>
                <a:latin typeface="Bahnschrift" panose="020B0502040204020203" pitchFamily="34" charset="0"/>
              </a:rPr>
              <a:t>Position - </a:t>
            </a:r>
            <a:r>
              <a:rPr lang="de-DE" b="1" dirty="0" err="1">
                <a:latin typeface="Bahnschrift" panose="020B0502040204020203" pitchFamily="34" charset="0"/>
              </a:rPr>
              <a:t>Odometie</a:t>
            </a:r>
            <a:r>
              <a:rPr lang="de-DE" b="1" dirty="0">
                <a:latin typeface="Bahnschrift" panose="020B0502040204020203" pitchFamily="34" charset="0"/>
              </a:rPr>
              <a:t> -&gt; 2D Pose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518FAA2-05DE-7BA2-477F-6141E4BE20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Ziel: Umwandlung der empfangenen </a:t>
            </a:r>
            <a:r>
              <a:rPr lang="de-DE" dirty="0" err="1"/>
              <a:t>Odometrie</a:t>
            </a:r>
            <a:r>
              <a:rPr lang="de-DE" dirty="0"/>
              <a:t>-Nachricht (als Text) in eine 2D-Pose (x, y, θ), die für Mapping und Bewegungssteuerung verwendet werden kann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4DE57B51-80ED-C5C1-8A82-2B1929DEB7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9701" y="5347927"/>
            <a:ext cx="1358922" cy="1337253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4ADB2D90-4E6D-7432-6E81-EF8D06FA3F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9701" y="5313357"/>
            <a:ext cx="1358922" cy="1371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2735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F5AF402B-4D79-1DE5-6F19-7EBA2ECC7F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9701" y="5313357"/>
            <a:ext cx="1358922" cy="1371823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9C8071ED-C80E-CC50-2A53-0713F5E70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>
                <a:latin typeface="Bahnschrift" panose="020B0502040204020203" pitchFamily="34" charset="0"/>
              </a:rPr>
              <a:t>Position - Ablauf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81F4F48-53E2-4AC7-8A83-7DAF102E66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de-DE" dirty="0"/>
              <a:t>1. </a:t>
            </a:r>
            <a:r>
              <a:rPr lang="de-DE" dirty="0" err="1"/>
              <a:t>Regex</a:t>
            </a:r>
            <a:r>
              <a:rPr lang="de-DE" dirty="0"/>
              <a:t>-Extraktion der Felder Die </a:t>
            </a:r>
            <a:r>
              <a:rPr lang="de-DE" dirty="0" err="1"/>
              <a:t>Odometrie</a:t>
            </a:r>
            <a:r>
              <a:rPr lang="de-DE" dirty="0"/>
              <a:t>-Daten kommen als Text. Es wird mit </a:t>
            </a:r>
            <a:r>
              <a:rPr lang="de-DE" dirty="0" err="1"/>
              <a:t>Regex</a:t>
            </a:r>
            <a:r>
              <a:rPr lang="de-DE" dirty="0"/>
              <a:t> gezielt nach diesen Feldern gesucht:</a:t>
            </a:r>
          </a:p>
          <a:p>
            <a:pPr lvl="1"/>
            <a:r>
              <a:rPr lang="de-DE" dirty="0" err="1"/>
              <a:t>position.x</a:t>
            </a:r>
            <a:r>
              <a:rPr lang="de-DE" dirty="0"/>
              <a:t>, </a:t>
            </a:r>
            <a:r>
              <a:rPr lang="de-DE" dirty="0" err="1"/>
              <a:t>position.y</a:t>
            </a:r>
            <a:r>
              <a:rPr lang="de-DE" dirty="0"/>
              <a:t> </a:t>
            </a:r>
          </a:p>
          <a:p>
            <a:pPr lvl="1"/>
            <a:r>
              <a:rPr lang="de-DE" dirty="0" err="1"/>
              <a:t>orientation.x</a:t>
            </a:r>
            <a:r>
              <a:rPr lang="de-DE" dirty="0"/>
              <a:t>, </a:t>
            </a:r>
            <a:r>
              <a:rPr lang="de-DE" dirty="0" err="1"/>
              <a:t>orientation.y</a:t>
            </a:r>
            <a:r>
              <a:rPr lang="de-DE" dirty="0"/>
              <a:t>, </a:t>
            </a:r>
            <a:r>
              <a:rPr lang="de-DE" dirty="0" err="1"/>
              <a:t>orientation.z</a:t>
            </a:r>
            <a:r>
              <a:rPr lang="de-DE" dirty="0"/>
              <a:t>, </a:t>
            </a:r>
            <a:r>
              <a:rPr lang="de-DE" dirty="0" err="1"/>
              <a:t>orientation.w</a:t>
            </a:r>
            <a:r>
              <a:rPr lang="de-DE" dirty="0"/>
              <a:t> </a:t>
            </a:r>
          </a:p>
          <a:p>
            <a:pPr marL="457200" lvl="1" indent="0">
              <a:buNone/>
            </a:pPr>
            <a:r>
              <a:rPr lang="de-DE" dirty="0"/>
              <a:t>Vorteil: einfach, effizient, ausreichend robust, da das Datenformat fix ist. </a:t>
            </a:r>
          </a:p>
          <a:p>
            <a:pPr marL="0" indent="0">
              <a:buNone/>
            </a:pPr>
            <a:r>
              <a:rPr lang="de-DE" dirty="0"/>
              <a:t>2. Konvertieren der Strings in double Mit </a:t>
            </a:r>
            <a:r>
              <a:rPr lang="de-DE" dirty="0" err="1"/>
              <a:t>std</a:t>
            </a:r>
            <a:r>
              <a:rPr lang="de-DE" dirty="0"/>
              <a:t>::</a:t>
            </a:r>
            <a:r>
              <a:rPr lang="de-DE" dirty="0" err="1"/>
              <a:t>stod</a:t>
            </a:r>
            <a:r>
              <a:rPr lang="de-DE" dirty="0"/>
              <a:t>() werden die extrahierten Textwerte in numerische Werte umgewandelt. </a:t>
            </a:r>
          </a:p>
          <a:p>
            <a:pPr marL="0" indent="0">
              <a:buNone/>
            </a:pPr>
            <a:r>
              <a:rPr lang="de-DE" dirty="0"/>
              <a:t>3. Quaternion → Euler Die Orientierung des Roboters wird als Quaternion übermittelt. Für 2D-Robotik benötigen wir jedoch nur die Rotation um die Z-Achse (den Yaw-Winkel). Deshalb wird das Quaternion über Standardformeln in (roll, pitch, </a:t>
            </a:r>
            <a:r>
              <a:rPr lang="de-DE" dirty="0" err="1"/>
              <a:t>yaw</a:t>
            </a:r>
            <a:r>
              <a:rPr lang="de-DE" dirty="0"/>
              <a:t>) umgerechnet.</a:t>
            </a:r>
          </a:p>
          <a:p>
            <a:pPr marL="0" indent="0">
              <a:buNone/>
            </a:pPr>
            <a:r>
              <a:rPr lang="de-DE" dirty="0"/>
              <a:t>4. Pose2D befüllen Die finalen Werte lauten: </a:t>
            </a:r>
            <a:r>
              <a:rPr lang="de-DE" dirty="0" err="1"/>
              <a:t>pose.x</a:t>
            </a:r>
            <a:r>
              <a:rPr lang="de-DE" dirty="0"/>
              <a:t> = x, </a:t>
            </a:r>
            <a:r>
              <a:rPr lang="de-DE" dirty="0" err="1"/>
              <a:t>pose.y</a:t>
            </a:r>
            <a:r>
              <a:rPr lang="de-DE" dirty="0"/>
              <a:t> = y, </a:t>
            </a:r>
          </a:p>
          <a:p>
            <a:pPr marL="0" indent="0">
              <a:buNone/>
            </a:pPr>
            <a:r>
              <a:rPr lang="de-DE" dirty="0"/>
              <a:t>					                   </a:t>
            </a:r>
            <a:r>
              <a:rPr lang="de-DE" dirty="0" err="1"/>
              <a:t>pose</a:t>
            </a:r>
            <a:r>
              <a:rPr lang="de-DE" dirty="0"/>
              <a:t>.</a:t>
            </a:r>
            <a:r>
              <a:rPr lang="el-GR" dirty="0"/>
              <a:t>θ = </a:t>
            </a:r>
            <a:r>
              <a:rPr lang="de-DE" dirty="0" err="1"/>
              <a:t>yaw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721911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A4A475-4D44-9366-ECAE-C4BBFB1BE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>
                <a:latin typeface="Bahnschrift" panose="020B0502040204020203" pitchFamily="34" charset="0"/>
              </a:rPr>
              <a:t>Karte – </a:t>
            </a:r>
            <a:r>
              <a:rPr lang="de-DE" b="1" dirty="0" err="1">
                <a:latin typeface="Bahnschrift" panose="020B0502040204020203" pitchFamily="34" charset="0"/>
              </a:rPr>
              <a:t>scan_to_data</a:t>
            </a:r>
            <a:endParaRPr lang="de-DE" b="1" dirty="0">
              <a:latin typeface="Bahnschrift" panose="020B0502040204020203" pitchFamily="34" charset="0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EE79537-0416-FA67-82A8-8AED34C516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Ranges &amp; </a:t>
            </a:r>
            <a:r>
              <a:rPr lang="de-DE" dirty="0" err="1"/>
              <a:t>Increment</a:t>
            </a:r>
            <a:r>
              <a:rPr lang="de-DE" dirty="0"/>
              <a:t> + Mathe + Pose2D -&gt; </a:t>
            </a:r>
          </a:p>
          <a:p>
            <a:pPr lvl="1"/>
            <a:r>
              <a:rPr lang="de-DE" dirty="0"/>
              <a:t>Punkte in der Welt</a:t>
            </a:r>
          </a:p>
          <a:p>
            <a:pPr lvl="1"/>
            <a:r>
              <a:rPr lang="de-DE" dirty="0"/>
              <a:t>Frontiers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2BA1CEF-51B5-9723-2D3C-4409A27329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9701" y="5313357"/>
            <a:ext cx="1358922" cy="1371823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359B2CC7-8432-B85F-5960-AD36B12739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9701" y="5313357"/>
            <a:ext cx="1358922" cy="1413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0282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7B1DE4-CB8C-65F8-4860-0392A36D3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>
                <a:latin typeface="Bahnschrift" panose="020B0502040204020203" pitchFamily="34" charset="0"/>
              </a:rPr>
              <a:t>Karte – </a:t>
            </a:r>
            <a:r>
              <a:rPr lang="de-DE" b="1" dirty="0" err="1">
                <a:latin typeface="Bahnschrift" panose="020B0502040204020203" pitchFamily="34" charset="0"/>
              </a:rPr>
              <a:t>data_to_world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3B3F704-E7D7-FF7A-1363-BB171ACE74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Neue Punkte und Frontiers mit der Welt vergleichen und Welt aktualisieren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6D183B45-452F-6634-C306-64B2C02ABB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9701" y="5313357"/>
            <a:ext cx="1358922" cy="1413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539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E08C63-9E27-D9BE-FD54-C77347514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>
                <a:latin typeface="Bahnschrift" panose="020B0502040204020203" pitchFamily="34" charset="0"/>
              </a:rPr>
              <a:t>Karte - Export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0510465-4F28-BE1C-108A-5700F33AF0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Alle Speicher in CSV exportieren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47F3ACE5-C4F3-7697-DFA3-50201650E6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9701" y="5313357"/>
            <a:ext cx="1358922" cy="1413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6748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AutoShape 9">
            <a:extLst>
              <a:ext uri="{FF2B5EF4-FFF2-40B4-BE49-F238E27FC236}">
                <a16:creationId xmlns:a16="http://schemas.microsoft.com/office/drawing/2014/main" id="{6552CBE9-5624-F80A-ADAD-8817B1010CD4}"/>
              </a:ext>
            </a:extLst>
          </p:cNvPr>
          <p:cNvSpPr/>
          <p:nvPr/>
        </p:nvSpPr>
        <p:spPr>
          <a:xfrm>
            <a:off x="9777606" y="6124043"/>
            <a:ext cx="687194" cy="4403"/>
          </a:xfrm>
          <a:prstGeom prst="line">
            <a:avLst/>
          </a:prstGeom>
          <a:ln w="57150" cap="flat">
            <a:solidFill>
              <a:srgbClr val="A7888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DE" sz="1200"/>
          </a:p>
        </p:txBody>
      </p:sp>
      <p:sp>
        <p:nvSpPr>
          <p:cNvPr id="76" name="AutoShape 9">
            <a:extLst>
              <a:ext uri="{FF2B5EF4-FFF2-40B4-BE49-F238E27FC236}">
                <a16:creationId xmlns:a16="http://schemas.microsoft.com/office/drawing/2014/main" id="{38B4E3A2-AF94-C643-4674-131D02570941}"/>
              </a:ext>
            </a:extLst>
          </p:cNvPr>
          <p:cNvSpPr/>
          <p:nvPr/>
        </p:nvSpPr>
        <p:spPr>
          <a:xfrm flipV="1">
            <a:off x="9740797" y="875067"/>
            <a:ext cx="724003" cy="0"/>
          </a:xfrm>
          <a:prstGeom prst="line">
            <a:avLst/>
          </a:prstGeom>
          <a:ln w="57150" cap="flat">
            <a:solidFill>
              <a:srgbClr val="A7888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DE" sz="1200"/>
          </a:p>
        </p:txBody>
      </p:sp>
      <p:sp>
        <p:nvSpPr>
          <p:cNvPr id="75" name="AutoShape 7">
            <a:extLst>
              <a:ext uri="{FF2B5EF4-FFF2-40B4-BE49-F238E27FC236}">
                <a16:creationId xmlns:a16="http://schemas.microsoft.com/office/drawing/2014/main" id="{45E6E769-6673-36AB-9EFE-15780F4BC33E}"/>
              </a:ext>
            </a:extLst>
          </p:cNvPr>
          <p:cNvSpPr/>
          <p:nvPr/>
        </p:nvSpPr>
        <p:spPr>
          <a:xfrm flipV="1">
            <a:off x="2612570" y="6128446"/>
            <a:ext cx="696741" cy="0"/>
          </a:xfrm>
          <a:prstGeom prst="line">
            <a:avLst/>
          </a:prstGeom>
          <a:ln w="57150" cap="flat">
            <a:solidFill>
              <a:srgbClr val="A7888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DE" sz="1200"/>
          </a:p>
        </p:txBody>
      </p:sp>
      <p:sp>
        <p:nvSpPr>
          <p:cNvPr id="74" name="AutoShape 6">
            <a:extLst>
              <a:ext uri="{FF2B5EF4-FFF2-40B4-BE49-F238E27FC236}">
                <a16:creationId xmlns:a16="http://schemas.microsoft.com/office/drawing/2014/main" id="{38FA6DBA-80F7-FC35-369B-4856D1CBB783}"/>
              </a:ext>
            </a:extLst>
          </p:cNvPr>
          <p:cNvSpPr/>
          <p:nvPr/>
        </p:nvSpPr>
        <p:spPr>
          <a:xfrm>
            <a:off x="2612570" y="867184"/>
            <a:ext cx="674971" cy="11309"/>
          </a:xfrm>
          <a:prstGeom prst="line">
            <a:avLst/>
          </a:prstGeom>
          <a:ln w="57150" cap="flat">
            <a:solidFill>
              <a:srgbClr val="A7888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DE" sz="1200"/>
          </a:p>
        </p:txBody>
      </p:sp>
      <p:sp>
        <p:nvSpPr>
          <p:cNvPr id="2" name="AutoShape 2"/>
          <p:cNvSpPr/>
          <p:nvPr/>
        </p:nvSpPr>
        <p:spPr>
          <a:xfrm flipV="1">
            <a:off x="1944238" y="3481765"/>
            <a:ext cx="696741" cy="0"/>
          </a:xfrm>
          <a:prstGeom prst="line">
            <a:avLst/>
          </a:prstGeom>
          <a:ln w="57150" cap="flat">
            <a:solidFill>
              <a:srgbClr val="A7888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DE" sz="1200"/>
          </a:p>
        </p:txBody>
      </p:sp>
      <p:grpSp>
        <p:nvGrpSpPr>
          <p:cNvPr id="3" name="Group 3"/>
          <p:cNvGrpSpPr/>
          <p:nvPr/>
        </p:nvGrpSpPr>
        <p:grpSpPr>
          <a:xfrm rot="-5400000">
            <a:off x="-147440" y="2328135"/>
            <a:ext cx="2706815" cy="2240235"/>
            <a:chOff x="0" y="0"/>
            <a:chExt cx="1069359" cy="88503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69359" cy="885031"/>
            </a:xfrm>
            <a:custGeom>
              <a:avLst/>
              <a:gdLst/>
              <a:ahLst/>
              <a:cxnLst/>
              <a:rect l="l" t="t" r="r" b="b"/>
              <a:pathLst>
                <a:path w="1069359" h="885031">
                  <a:moveTo>
                    <a:pt x="40221" y="0"/>
                  </a:moveTo>
                  <a:lnTo>
                    <a:pt x="1029138" y="0"/>
                  </a:lnTo>
                  <a:cubicBezTo>
                    <a:pt x="1051351" y="0"/>
                    <a:pt x="1069359" y="18008"/>
                    <a:pt x="1069359" y="40221"/>
                  </a:cubicBezTo>
                  <a:lnTo>
                    <a:pt x="1069359" y="844810"/>
                  </a:lnTo>
                  <a:cubicBezTo>
                    <a:pt x="1069359" y="855478"/>
                    <a:pt x="1065121" y="865708"/>
                    <a:pt x="1057578" y="873251"/>
                  </a:cubicBezTo>
                  <a:cubicBezTo>
                    <a:pt x="1050035" y="880794"/>
                    <a:pt x="1039805" y="885031"/>
                    <a:pt x="1029138" y="885031"/>
                  </a:cubicBezTo>
                  <a:lnTo>
                    <a:pt x="40221" y="885031"/>
                  </a:lnTo>
                  <a:cubicBezTo>
                    <a:pt x="18008" y="885031"/>
                    <a:pt x="0" y="867024"/>
                    <a:pt x="0" y="844810"/>
                  </a:cubicBezTo>
                  <a:lnTo>
                    <a:pt x="0" y="40221"/>
                  </a:lnTo>
                  <a:cubicBezTo>
                    <a:pt x="0" y="18008"/>
                    <a:pt x="18008" y="0"/>
                    <a:pt x="40221" y="0"/>
                  </a:cubicBezTo>
                  <a:close/>
                </a:path>
              </a:pathLst>
            </a:custGeom>
            <a:solidFill>
              <a:srgbClr val="E0CFFF"/>
            </a:solidFill>
            <a:ln w="28575" cap="rnd">
              <a:solidFill>
                <a:srgbClr val="A7888B"/>
              </a:solidFill>
              <a:prstDash val="solid"/>
              <a:round/>
            </a:ln>
          </p:spPr>
          <p:txBody>
            <a:bodyPr/>
            <a:lstStyle/>
            <a:p>
              <a:endParaRPr lang="de-DE" sz="120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069359" cy="923131"/>
            </a:xfrm>
            <a:prstGeom prst="rect">
              <a:avLst/>
            </a:prstGeom>
          </p:spPr>
          <p:txBody>
            <a:bodyPr lIns="47625" tIns="47625" rIns="47625" bIns="47625" rtlCol="0" anchor="ctr"/>
            <a:lstStyle/>
            <a:p>
              <a:pPr algn="ctr">
                <a:lnSpc>
                  <a:spcPts val="1837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6" name="AutoShape 6"/>
          <p:cNvSpPr/>
          <p:nvPr/>
        </p:nvSpPr>
        <p:spPr>
          <a:xfrm flipV="1">
            <a:off x="2623119" y="2641515"/>
            <a:ext cx="696741" cy="0"/>
          </a:xfrm>
          <a:prstGeom prst="line">
            <a:avLst/>
          </a:prstGeom>
          <a:ln w="57150" cap="flat">
            <a:solidFill>
              <a:srgbClr val="A7888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DE" sz="1200"/>
          </a:p>
        </p:txBody>
      </p:sp>
      <p:sp>
        <p:nvSpPr>
          <p:cNvPr id="7" name="AutoShape 7"/>
          <p:cNvSpPr/>
          <p:nvPr/>
        </p:nvSpPr>
        <p:spPr>
          <a:xfrm flipV="1">
            <a:off x="2623119" y="4442539"/>
            <a:ext cx="696741" cy="0"/>
          </a:xfrm>
          <a:prstGeom prst="line">
            <a:avLst/>
          </a:prstGeom>
          <a:ln w="57150" cap="flat">
            <a:solidFill>
              <a:srgbClr val="A7888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DE" sz="1200"/>
          </a:p>
        </p:txBody>
      </p:sp>
      <p:sp>
        <p:nvSpPr>
          <p:cNvPr id="8" name="AutoShape 8"/>
          <p:cNvSpPr/>
          <p:nvPr/>
        </p:nvSpPr>
        <p:spPr>
          <a:xfrm flipH="1">
            <a:off x="2620979" y="878493"/>
            <a:ext cx="0" cy="5242908"/>
          </a:xfrm>
          <a:prstGeom prst="line">
            <a:avLst/>
          </a:prstGeom>
          <a:ln w="57150" cap="flat">
            <a:solidFill>
              <a:srgbClr val="A7888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DE" sz="1200"/>
          </a:p>
        </p:txBody>
      </p:sp>
      <p:sp>
        <p:nvSpPr>
          <p:cNvPr id="9" name="AutoShape 9"/>
          <p:cNvSpPr/>
          <p:nvPr/>
        </p:nvSpPr>
        <p:spPr>
          <a:xfrm flipV="1">
            <a:off x="9726382" y="2622465"/>
            <a:ext cx="724003" cy="0"/>
          </a:xfrm>
          <a:prstGeom prst="line">
            <a:avLst/>
          </a:prstGeom>
          <a:ln w="57150" cap="flat">
            <a:solidFill>
              <a:srgbClr val="A7888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DE" sz="1200"/>
          </a:p>
        </p:txBody>
      </p:sp>
      <p:sp>
        <p:nvSpPr>
          <p:cNvPr id="10" name="AutoShape 10"/>
          <p:cNvSpPr/>
          <p:nvPr/>
        </p:nvSpPr>
        <p:spPr>
          <a:xfrm flipV="1">
            <a:off x="9726382" y="4442539"/>
            <a:ext cx="724003" cy="0"/>
          </a:xfrm>
          <a:prstGeom prst="line">
            <a:avLst/>
          </a:prstGeom>
          <a:ln w="57150" cap="flat">
            <a:solidFill>
              <a:srgbClr val="A7888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r>
              <a:rPr lang="de-DE" sz="1200" dirty="0"/>
              <a:t>c</a:t>
            </a:r>
          </a:p>
        </p:txBody>
      </p:sp>
      <p:sp>
        <p:nvSpPr>
          <p:cNvPr id="11" name="AutoShape 11"/>
          <p:cNvSpPr/>
          <p:nvPr/>
        </p:nvSpPr>
        <p:spPr>
          <a:xfrm flipH="1">
            <a:off x="10438711" y="878492"/>
            <a:ext cx="7685" cy="5242909"/>
          </a:xfrm>
          <a:prstGeom prst="line">
            <a:avLst/>
          </a:prstGeom>
          <a:ln w="57150" cap="flat">
            <a:solidFill>
              <a:srgbClr val="A7888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DE" sz="1200"/>
          </a:p>
        </p:txBody>
      </p:sp>
      <p:grpSp>
        <p:nvGrpSpPr>
          <p:cNvPr id="12" name="Group 12"/>
          <p:cNvGrpSpPr/>
          <p:nvPr/>
        </p:nvGrpSpPr>
        <p:grpSpPr>
          <a:xfrm>
            <a:off x="2881329" y="5357827"/>
            <a:ext cx="7254873" cy="1364407"/>
            <a:chOff x="0" y="0"/>
            <a:chExt cx="1751655" cy="32943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751655" cy="329430"/>
            </a:xfrm>
            <a:custGeom>
              <a:avLst/>
              <a:gdLst/>
              <a:ahLst/>
              <a:cxnLst/>
              <a:rect l="l" t="t" r="r" b="b"/>
              <a:pathLst>
                <a:path w="1751655" h="329430">
                  <a:moveTo>
                    <a:pt x="10004" y="0"/>
                  </a:moveTo>
                  <a:lnTo>
                    <a:pt x="1741651" y="0"/>
                  </a:lnTo>
                  <a:cubicBezTo>
                    <a:pt x="1744304" y="0"/>
                    <a:pt x="1746849" y="1054"/>
                    <a:pt x="1748725" y="2930"/>
                  </a:cubicBezTo>
                  <a:cubicBezTo>
                    <a:pt x="1750601" y="4806"/>
                    <a:pt x="1751655" y="7351"/>
                    <a:pt x="1751655" y="10004"/>
                  </a:cubicBezTo>
                  <a:lnTo>
                    <a:pt x="1751655" y="319425"/>
                  </a:lnTo>
                  <a:cubicBezTo>
                    <a:pt x="1751655" y="322079"/>
                    <a:pt x="1750601" y="324623"/>
                    <a:pt x="1748725" y="326500"/>
                  </a:cubicBezTo>
                  <a:cubicBezTo>
                    <a:pt x="1746849" y="328376"/>
                    <a:pt x="1744304" y="329430"/>
                    <a:pt x="1741651" y="329430"/>
                  </a:cubicBezTo>
                  <a:lnTo>
                    <a:pt x="10004" y="329430"/>
                  </a:lnTo>
                  <a:cubicBezTo>
                    <a:pt x="7351" y="329430"/>
                    <a:pt x="4806" y="328376"/>
                    <a:pt x="2930" y="326500"/>
                  </a:cubicBezTo>
                  <a:cubicBezTo>
                    <a:pt x="1054" y="324623"/>
                    <a:pt x="0" y="322079"/>
                    <a:pt x="0" y="319425"/>
                  </a:cubicBezTo>
                  <a:lnTo>
                    <a:pt x="0" y="10004"/>
                  </a:lnTo>
                  <a:cubicBezTo>
                    <a:pt x="0" y="7351"/>
                    <a:pt x="1054" y="4806"/>
                    <a:pt x="2930" y="2930"/>
                  </a:cubicBezTo>
                  <a:cubicBezTo>
                    <a:pt x="4806" y="1054"/>
                    <a:pt x="7351" y="0"/>
                    <a:pt x="10004" y="0"/>
                  </a:cubicBezTo>
                  <a:close/>
                </a:path>
              </a:pathLst>
            </a:custGeom>
            <a:solidFill>
              <a:srgbClr val="E3F2FF"/>
            </a:solidFill>
            <a:ln w="28575" cap="sq">
              <a:solidFill>
                <a:srgbClr val="A7888B"/>
              </a:solidFill>
              <a:prstDash val="solid"/>
              <a:miter/>
            </a:ln>
          </p:spPr>
          <p:txBody>
            <a:bodyPr/>
            <a:lstStyle/>
            <a:p>
              <a:endParaRPr lang="de-DE" sz="1200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751655" cy="367530"/>
            </a:xfrm>
            <a:prstGeom prst="rect">
              <a:avLst/>
            </a:prstGeom>
          </p:spPr>
          <p:txBody>
            <a:bodyPr lIns="47625" tIns="47625" rIns="47625" bIns="47625" rtlCol="0" anchor="ctr"/>
            <a:lstStyle/>
            <a:p>
              <a:pPr algn="ctr">
                <a:lnSpc>
                  <a:spcPts val="1837"/>
                </a:lnSpc>
                <a:spcBef>
                  <a:spcPct val="0"/>
                </a:spcBef>
              </a:pPr>
              <a:endParaRPr sz="1200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2881329" y="236138"/>
            <a:ext cx="7254873" cy="1481645"/>
            <a:chOff x="0" y="0"/>
            <a:chExt cx="1751655" cy="35773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751655" cy="357736"/>
            </a:xfrm>
            <a:custGeom>
              <a:avLst/>
              <a:gdLst/>
              <a:ahLst/>
              <a:cxnLst/>
              <a:rect l="l" t="t" r="r" b="b"/>
              <a:pathLst>
                <a:path w="1751655" h="357736">
                  <a:moveTo>
                    <a:pt x="10004" y="0"/>
                  </a:moveTo>
                  <a:lnTo>
                    <a:pt x="1741651" y="0"/>
                  </a:lnTo>
                  <a:cubicBezTo>
                    <a:pt x="1744304" y="0"/>
                    <a:pt x="1746849" y="1054"/>
                    <a:pt x="1748725" y="2930"/>
                  </a:cubicBezTo>
                  <a:cubicBezTo>
                    <a:pt x="1750601" y="4806"/>
                    <a:pt x="1751655" y="7351"/>
                    <a:pt x="1751655" y="10004"/>
                  </a:cubicBezTo>
                  <a:lnTo>
                    <a:pt x="1751655" y="347732"/>
                  </a:lnTo>
                  <a:cubicBezTo>
                    <a:pt x="1751655" y="350385"/>
                    <a:pt x="1750601" y="352930"/>
                    <a:pt x="1748725" y="354806"/>
                  </a:cubicBezTo>
                  <a:cubicBezTo>
                    <a:pt x="1746849" y="356682"/>
                    <a:pt x="1744304" y="357736"/>
                    <a:pt x="1741651" y="357736"/>
                  </a:cubicBezTo>
                  <a:lnTo>
                    <a:pt x="10004" y="357736"/>
                  </a:lnTo>
                  <a:cubicBezTo>
                    <a:pt x="7351" y="357736"/>
                    <a:pt x="4806" y="356682"/>
                    <a:pt x="2930" y="354806"/>
                  </a:cubicBezTo>
                  <a:cubicBezTo>
                    <a:pt x="1054" y="352930"/>
                    <a:pt x="0" y="350385"/>
                    <a:pt x="0" y="347732"/>
                  </a:cubicBezTo>
                  <a:lnTo>
                    <a:pt x="0" y="10004"/>
                  </a:lnTo>
                  <a:cubicBezTo>
                    <a:pt x="0" y="7351"/>
                    <a:pt x="1054" y="4806"/>
                    <a:pt x="2930" y="2930"/>
                  </a:cubicBezTo>
                  <a:cubicBezTo>
                    <a:pt x="4806" y="1054"/>
                    <a:pt x="7351" y="0"/>
                    <a:pt x="10004" y="0"/>
                  </a:cubicBezTo>
                  <a:close/>
                </a:path>
              </a:pathLst>
            </a:custGeom>
            <a:solidFill>
              <a:srgbClr val="FFEEE3"/>
            </a:solidFill>
            <a:ln w="28575" cap="sq">
              <a:solidFill>
                <a:srgbClr val="A7888B"/>
              </a:solidFill>
              <a:prstDash val="solid"/>
              <a:miter/>
            </a:ln>
          </p:spPr>
          <p:txBody>
            <a:bodyPr/>
            <a:lstStyle/>
            <a:p>
              <a:endParaRPr lang="de-DE" sz="1200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751655" cy="395836"/>
            </a:xfrm>
            <a:prstGeom prst="rect">
              <a:avLst/>
            </a:prstGeom>
          </p:spPr>
          <p:txBody>
            <a:bodyPr lIns="47625" tIns="47625" rIns="47625" bIns="47625" rtlCol="0" anchor="ctr"/>
            <a:lstStyle/>
            <a:p>
              <a:pPr algn="ctr">
                <a:lnSpc>
                  <a:spcPts val="1837"/>
                </a:lnSpc>
                <a:spcBef>
                  <a:spcPct val="0"/>
                </a:spcBef>
              </a:pPr>
              <a:endParaRPr sz="1200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2881329" y="1928280"/>
            <a:ext cx="7254873" cy="1550811"/>
            <a:chOff x="0" y="0"/>
            <a:chExt cx="1751655" cy="37443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751655" cy="374436"/>
            </a:xfrm>
            <a:custGeom>
              <a:avLst/>
              <a:gdLst/>
              <a:ahLst/>
              <a:cxnLst/>
              <a:rect l="l" t="t" r="r" b="b"/>
              <a:pathLst>
                <a:path w="1751655" h="374436">
                  <a:moveTo>
                    <a:pt x="10004" y="0"/>
                  </a:moveTo>
                  <a:lnTo>
                    <a:pt x="1741651" y="0"/>
                  </a:lnTo>
                  <a:cubicBezTo>
                    <a:pt x="1744304" y="0"/>
                    <a:pt x="1746849" y="1054"/>
                    <a:pt x="1748725" y="2930"/>
                  </a:cubicBezTo>
                  <a:cubicBezTo>
                    <a:pt x="1750601" y="4806"/>
                    <a:pt x="1751655" y="7351"/>
                    <a:pt x="1751655" y="10004"/>
                  </a:cubicBezTo>
                  <a:lnTo>
                    <a:pt x="1751655" y="364432"/>
                  </a:lnTo>
                  <a:cubicBezTo>
                    <a:pt x="1751655" y="367085"/>
                    <a:pt x="1750601" y="369630"/>
                    <a:pt x="1748725" y="371506"/>
                  </a:cubicBezTo>
                  <a:cubicBezTo>
                    <a:pt x="1746849" y="373382"/>
                    <a:pt x="1744304" y="374436"/>
                    <a:pt x="1741651" y="374436"/>
                  </a:cubicBezTo>
                  <a:lnTo>
                    <a:pt x="10004" y="374436"/>
                  </a:lnTo>
                  <a:cubicBezTo>
                    <a:pt x="7351" y="374436"/>
                    <a:pt x="4806" y="373382"/>
                    <a:pt x="2930" y="371506"/>
                  </a:cubicBezTo>
                  <a:cubicBezTo>
                    <a:pt x="1054" y="369630"/>
                    <a:pt x="0" y="367085"/>
                    <a:pt x="0" y="364432"/>
                  </a:cubicBezTo>
                  <a:lnTo>
                    <a:pt x="0" y="10004"/>
                  </a:lnTo>
                  <a:cubicBezTo>
                    <a:pt x="0" y="7351"/>
                    <a:pt x="1054" y="4806"/>
                    <a:pt x="2930" y="2930"/>
                  </a:cubicBezTo>
                  <a:cubicBezTo>
                    <a:pt x="4806" y="1054"/>
                    <a:pt x="7351" y="0"/>
                    <a:pt x="10004" y="0"/>
                  </a:cubicBezTo>
                  <a:close/>
                </a:path>
              </a:pathLst>
            </a:custGeom>
            <a:solidFill>
              <a:srgbClr val="FFE3FB"/>
            </a:solidFill>
            <a:ln w="28575" cap="sq">
              <a:solidFill>
                <a:srgbClr val="A7888B"/>
              </a:solidFill>
              <a:prstDash val="solid"/>
              <a:miter/>
            </a:ln>
          </p:spPr>
          <p:txBody>
            <a:bodyPr/>
            <a:lstStyle/>
            <a:p>
              <a:endParaRPr lang="de-DE" sz="1200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1751655" cy="412536"/>
            </a:xfrm>
            <a:prstGeom prst="rect">
              <a:avLst/>
            </a:prstGeom>
          </p:spPr>
          <p:txBody>
            <a:bodyPr lIns="47625" tIns="47625" rIns="47625" bIns="47625" rtlCol="0" anchor="ctr"/>
            <a:lstStyle/>
            <a:p>
              <a:pPr algn="ctr">
                <a:lnSpc>
                  <a:spcPts val="1837"/>
                </a:lnSpc>
                <a:spcBef>
                  <a:spcPct val="0"/>
                </a:spcBef>
              </a:pPr>
              <a:endParaRPr sz="1200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2881329" y="3711504"/>
            <a:ext cx="7254873" cy="1418959"/>
            <a:chOff x="0" y="0"/>
            <a:chExt cx="1751655" cy="342601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751655" cy="342601"/>
            </a:xfrm>
            <a:custGeom>
              <a:avLst/>
              <a:gdLst/>
              <a:ahLst/>
              <a:cxnLst/>
              <a:rect l="l" t="t" r="r" b="b"/>
              <a:pathLst>
                <a:path w="1751655" h="342601">
                  <a:moveTo>
                    <a:pt x="10004" y="0"/>
                  </a:moveTo>
                  <a:lnTo>
                    <a:pt x="1741651" y="0"/>
                  </a:lnTo>
                  <a:cubicBezTo>
                    <a:pt x="1744304" y="0"/>
                    <a:pt x="1746849" y="1054"/>
                    <a:pt x="1748725" y="2930"/>
                  </a:cubicBezTo>
                  <a:cubicBezTo>
                    <a:pt x="1750601" y="4806"/>
                    <a:pt x="1751655" y="7351"/>
                    <a:pt x="1751655" y="10004"/>
                  </a:cubicBezTo>
                  <a:lnTo>
                    <a:pt x="1751655" y="332597"/>
                  </a:lnTo>
                  <a:cubicBezTo>
                    <a:pt x="1751655" y="335250"/>
                    <a:pt x="1750601" y="337795"/>
                    <a:pt x="1748725" y="339671"/>
                  </a:cubicBezTo>
                  <a:cubicBezTo>
                    <a:pt x="1746849" y="341547"/>
                    <a:pt x="1744304" y="342601"/>
                    <a:pt x="1741651" y="342601"/>
                  </a:cubicBezTo>
                  <a:lnTo>
                    <a:pt x="10004" y="342601"/>
                  </a:lnTo>
                  <a:cubicBezTo>
                    <a:pt x="7351" y="342601"/>
                    <a:pt x="4806" y="341547"/>
                    <a:pt x="2930" y="339671"/>
                  </a:cubicBezTo>
                  <a:cubicBezTo>
                    <a:pt x="1054" y="337795"/>
                    <a:pt x="0" y="335250"/>
                    <a:pt x="0" y="332597"/>
                  </a:cubicBezTo>
                  <a:lnTo>
                    <a:pt x="0" y="10004"/>
                  </a:lnTo>
                  <a:cubicBezTo>
                    <a:pt x="0" y="7351"/>
                    <a:pt x="1054" y="4806"/>
                    <a:pt x="2930" y="2930"/>
                  </a:cubicBezTo>
                  <a:cubicBezTo>
                    <a:pt x="4806" y="1054"/>
                    <a:pt x="7351" y="0"/>
                    <a:pt x="10004" y="0"/>
                  </a:cubicBezTo>
                  <a:close/>
                </a:path>
              </a:pathLst>
            </a:custGeom>
            <a:solidFill>
              <a:srgbClr val="E4FFE3"/>
            </a:solidFill>
            <a:ln w="28575" cap="sq">
              <a:solidFill>
                <a:srgbClr val="A7888B"/>
              </a:solidFill>
              <a:prstDash val="solid"/>
              <a:miter/>
            </a:ln>
          </p:spPr>
          <p:txBody>
            <a:bodyPr/>
            <a:lstStyle/>
            <a:p>
              <a:endParaRPr lang="de-DE" sz="1200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1751655" cy="380701"/>
            </a:xfrm>
            <a:prstGeom prst="rect">
              <a:avLst/>
            </a:prstGeom>
          </p:spPr>
          <p:txBody>
            <a:bodyPr lIns="47625" tIns="47625" rIns="47625" bIns="47625" rtlCol="0" anchor="ctr"/>
            <a:lstStyle/>
            <a:p>
              <a:pPr algn="ctr">
                <a:lnSpc>
                  <a:spcPts val="1837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24" name="AutoShape 24"/>
          <p:cNvSpPr/>
          <p:nvPr/>
        </p:nvSpPr>
        <p:spPr>
          <a:xfrm flipV="1">
            <a:off x="10438711" y="3524446"/>
            <a:ext cx="424627" cy="0"/>
          </a:xfrm>
          <a:prstGeom prst="line">
            <a:avLst/>
          </a:prstGeom>
          <a:ln w="57150" cap="flat">
            <a:solidFill>
              <a:srgbClr val="A7888B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de-DE" sz="1200"/>
          </a:p>
        </p:txBody>
      </p:sp>
      <p:sp>
        <p:nvSpPr>
          <p:cNvPr id="25" name="TextBox 25"/>
          <p:cNvSpPr txBox="1"/>
          <p:nvPr/>
        </p:nvSpPr>
        <p:spPr>
          <a:xfrm>
            <a:off x="197967" y="2264042"/>
            <a:ext cx="2074711" cy="24440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586"/>
              </a:lnSpc>
            </a:pPr>
            <a:r>
              <a:rPr lang="en-US" sz="1133" b="1" spc="-22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Beschreibung</a:t>
            </a:r>
            <a:r>
              <a:rPr lang="en-US" sz="1133" spc="-22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:</a:t>
            </a:r>
          </a:p>
          <a:p>
            <a:pPr marL="244698" lvl="1" indent="-122349">
              <a:lnSpc>
                <a:spcPts val="1586"/>
              </a:lnSpc>
              <a:buFont typeface="Arial"/>
              <a:buChar char="•"/>
            </a:pPr>
            <a:r>
              <a:rPr lang="en-US" sz="1133" spc="-22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Initialisiert</a:t>
            </a:r>
            <a:r>
              <a:rPr lang="en-US" sz="1133" spc="-22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133" spc="-22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Netzwerk</a:t>
            </a:r>
            <a:r>
              <a:rPr lang="en-US" sz="1133" spc="-22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und </a:t>
            </a:r>
            <a:r>
              <a:rPr lang="en-US" sz="1133" spc="-22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testet</a:t>
            </a:r>
            <a:r>
              <a:rPr lang="en-US" sz="1133" spc="-22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LiDAR- &amp; Odom </a:t>
            </a:r>
            <a:r>
              <a:rPr lang="en-US" sz="1133" spc="-22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Verbindung</a:t>
            </a:r>
            <a:endParaRPr lang="en-US" sz="1133" spc="-22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>
              <a:lnSpc>
                <a:spcPts val="1586"/>
              </a:lnSpc>
            </a:pPr>
            <a:endParaRPr lang="en-US" sz="1133" spc="-22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>
              <a:lnSpc>
                <a:spcPts val="1586"/>
              </a:lnSpc>
            </a:pPr>
            <a:r>
              <a:rPr lang="en-US" sz="1133" b="1" spc="-22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Shared Memory (read):</a:t>
            </a:r>
          </a:p>
          <a:p>
            <a:pPr>
              <a:lnSpc>
                <a:spcPts val="1586"/>
              </a:lnSpc>
            </a:pPr>
            <a:endParaRPr lang="en-US" sz="1133" b="1" spc="-22" dirty="0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>
              <a:lnSpc>
                <a:spcPts val="1586"/>
              </a:lnSpc>
            </a:pPr>
            <a:r>
              <a:rPr lang="en-US" sz="1133" b="1" spc="-22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Shared Memory (write):</a:t>
            </a:r>
          </a:p>
          <a:p>
            <a:pPr marL="244698" lvl="1" indent="-122349">
              <a:lnSpc>
                <a:spcPts val="1586"/>
              </a:lnSpc>
              <a:buFont typeface="Arial"/>
              <a:buChar char="•"/>
            </a:pPr>
            <a:r>
              <a:rPr lang="en-US" sz="1133" spc="-22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network_ok</a:t>
            </a:r>
            <a:r>
              <a:rPr lang="en-US" sz="1133" spc="-22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  <a:p>
            <a:pPr marL="244698" lvl="1" indent="-122349">
              <a:lnSpc>
                <a:spcPts val="1586"/>
              </a:lnSpc>
              <a:buFont typeface="Arial"/>
              <a:buChar char="•"/>
            </a:pPr>
            <a:r>
              <a:rPr lang="en-US" sz="1133" spc="-22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stop</a:t>
            </a:r>
          </a:p>
          <a:p>
            <a:pPr>
              <a:lnSpc>
                <a:spcPts val="1586"/>
              </a:lnSpc>
            </a:pPr>
            <a:endParaRPr lang="en-US" sz="1133" spc="-22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>
              <a:lnSpc>
                <a:spcPts val="1586"/>
              </a:lnSpc>
            </a:pPr>
            <a:r>
              <a:rPr lang="en-US" sz="1133" b="1" spc="-22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Semaphore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046561" y="458374"/>
            <a:ext cx="1632803" cy="1012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586"/>
              </a:lnSpc>
            </a:pPr>
            <a:r>
              <a:rPr lang="en-US" sz="1133" b="1" spc="-22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Beschreibung</a:t>
            </a:r>
            <a:r>
              <a:rPr lang="en-US" sz="1133" spc="-2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:</a:t>
            </a:r>
          </a:p>
          <a:p>
            <a:pPr marL="244698" lvl="1" indent="-122349">
              <a:lnSpc>
                <a:spcPts val="1586"/>
              </a:lnSpc>
              <a:buFont typeface="Arial"/>
              <a:buChar char="•"/>
            </a:pPr>
            <a:r>
              <a:rPr lang="en-US" sz="1133" spc="-2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LIEST ZIELE AUS DER KONSOLE UND LEGT SIE IN SHARED MEMORY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865737" y="458374"/>
            <a:ext cx="1734403" cy="601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586"/>
              </a:lnSpc>
            </a:pPr>
            <a:r>
              <a:rPr lang="en-US" sz="1133" b="1" spc="-22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Shared Memory (read)</a:t>
            </a:r>
          </a:p>
          <a:p>
            <a:pPr marL="244698" lvl="1" indent="-122349">
              <a:lnSpc>
                <a:spcPts val="1586"/>
              </a:lnSpc>
              <a:buFont typeface="Arial"/>
              <a:buChar char="•"/>
            </a:pPr>
            <a:r>
              <a:rPr lang="en-US" sz="1133" spc="-2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stop</a:t>
            </a:r>
          </a:p>
          <a:p>
            <a:pPr>
              <a:lnSpc>
                <a:spcPts val="1586"/>
              </a:lnSpc>
            </a:pPr>
            <a:endParaRPr lang="en-US" sz="1133" spc="-22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6786512" y="458375"/>
            <a:ext cx="1649797" cy="1217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586"/>
              </a:lnSpc>
            </a:pPr>
            <a:r>
              <a:rPr lang="en-US" sz="1133" b="1" spc="-22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Shared Memory (write)</a:t>
            </a:r>
          </a:p>
          <a:p>
            <a:pPr marL="244698" lvl="1" indent="-122349">
              <a:lnSpc>
                <a:spcPts val="1586"/>
              </a:lnSpc>
              <a:buFont typeface="Arial"/>
              <a:buChar char="•"/>
            </a:pPr>
            <a:r>
              <a:rPr lang="en-US" sz="1133" spc="-22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goal_pose</a:t>
            </a:r>
            <a:r>
              <a:rPr lang="en-US" sz="1133" spc="-22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  <a:p>
            <a:pPr marL="244698" lvl="1" indent="-122349">
              <a:lnSpc>
                <a:spcPts val="1586"/>
              </a:lnSpc>
              <a:buFont typeface="Arial"/>
              <a:buChar char="•"/>
            </a:pPr>
            <a:r>
              <a:rPr lang="en-US" sz="1133" spc="-22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goal_valid</a:t>
            </a:r>
            <a:r>
              <a:rPr lang="en-US" sz="1133" spc="-22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= 1</a:t>
            </a:r>
          </a:p>
          <a:p>
            <a:pPr marL="244698" lvl="1" indent="-122349">
              <a:lnSpc>
                <a:spcPts val="1586"/>
              </a:lnSpc>
              <a:buFont typeface="Arial"/>
              <a:buChar char="•"/>
            </a:pPr>
            <a:r>
              <a:rPr lang="en-US" sz="1133" spc="-22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goal_seq</a:t>
            </a:r>
            <a:r>
              <a:rPr lang="en-US" sz="1133" spc="-22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+= 1</a:t>
            </a:r>
          </a:p>
          <a:p>
            <a:pPr marL="244698" lvl="1" indent="-122349">
              <a:lnSpc>
                <a:spcPts val="1586"/>
              </a:lnSpc>
              <a:buFont typeface="Arial"/>
              <a:buChar char="•"/>
            </a:pPr>
            <a:r>
              <a:rPr lang="en-US" sz="1133" spc="-22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is_goal</a:t>
            </a:r>
            <a:endParaRPr lang="en-US" sz="1133" spc="-22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244698" lvl="1" indent="-122349">
              <a:lnSpc>
                <a:spcPts val="1586"/>
              </a:lnSpc>
              <a:buFont typeface="Arial"/>
              <a:buChar char="•"/>
            </a:pPr>
            <a:r>
              <a:rPr lang="en-US" sz="1133" spc="-22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stop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682299" y="452628"/>
            <a:ext cx="1453903" cy="601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586"/>
              </a:lnSpc>
            </a:pPr>
            <a:r>
              <a:rPr lang="en-US" sz="1133" b="1" spc="-22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Semaphore</a:t>
            </a:r>
          </a:p>
          <a:p>
            <a:pPr marL="244698" lvl="1" indent="-122349">
              <a:lnSpc>
                <a:spcPts val="1586"/>
              </a:lnSpc>
              <a:buFont typeface="Arial"/>
              <a:buChar char="•"/>
            </a:pPr>
            <a:r>
              <a:rPr lang="en-US" sz="1133" spc="-2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g_goal_sem</a:t>
            </a:r>
          </a:p>
          <a:p>
            <a:pPr>
              <a:lnSpc>
                <a:spcPts val="1586"/>
              </a:lnSpc>
            </a:pPr>
            <a:endParaRPr lang="en-US" sz="1133" spc="-22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3046561" y="2187077"/>
            <a:ext cx="1632803" cy="1217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586"/>
              </a:lnSpc>
            </a:pPr>
            <a:r>
              <a:rPr lang="en-US" sz="1133" b="1" spc="-22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Beschreibung</a:t>
            </a:r>
            <a:r>
              <a:rPr lang="en-US" sz="1133" spc="-2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:</a:t>
            </a:r>
          </a:p>
          <a:p>
            <a:pPr marL="244698" lvl="1" indent="-122349">
              <a:lnSpc>
                <a:spcPts val="1586"/>
              </a:lnSpc>
              <a:buFont typeface="Arial"/>
              <a:buChar char="•"/>
            </a:pPr>
            <a:r>
              <a:rPr lang="en-US" sz="1133" spc="-2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Wartet auf neues Ziel, Berechnet Geschwindigkeiten und sendet sie an den Roboter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865737" y="2187078"/>
            <a:ext cx="1734403" cy="1422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586"/>
              </a:lnSpc>
            </a:pPr>
            <a:r>
              <a:rPr lang="en-US" sz="1133" b="1" spc="-22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Shared Memory (read)</a:t>
            </a:r>
          </a:p>
          <a:p>
            <a:pPr marL="244698" lvl="1" indent="-122349">
              <a:lnSpc>
                <a:spcPts val="1586"/>
              </a:lnSpc>
              <a:buFont typeface="Arial"/>
              <a:buChar char="•"/>
            </a:pPr>
            <a:r>
              <a:rPr lang="en-US" sz="1133" spc="-2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goal_pose</a:t>
            </a:r>
          </a:p>
          <a:p>
            <a:pPr marL="244698" lvl="1" indent="-122349">
              <a:lnSpc>
                <a:spcPts val="1586"/>
              </a:lnSpc>
              <a:buFont typeface="Arial"/>
              <a:buChar char="•"/>
            </a:pPr>
            <a:r>
              <a:rPr lang="en-US" sz="1133" spc="-2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current_pose</a:t>
            </a:r>
          </a:p>
          <a:p>
            <a:pPr marL="244698" lvl="1" indent="-122349">
              <a:lnSpc>
                <a:spcPts val="1586"/>
              </a:lnSpc>
              <a:buFont typeface="Arial"/>
              <a:buChar char="•"/>
            </a:pPr>
            <a:r>
              <a:rPr lang="en-US" sz="1133" spc="-2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goal_seq</a:t>
            </a:r>
          </a:p>
          <a:p>
            <a:pPr marL="244698" lvl="1" indent="-122349">
              <a:lnSpc>
                <a:spcPts val="1586"/>
              </a:lnSpc>
              <a:buFont typeface="Arial"/>
              <a:buChar char="•"/>
            </a:pPr>
            <a:r>
              <a:rPr lang="en-US" sz="1133" spc="-2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pose_valid</a:t>
            </a:r>
          </a:p>
          <a:p>
            <a:pPr marL="244698" lvl="1" indent="-122349">
              <a:lnSpc>
                <a:spcPts val="1586"/>
              </a:lnSpc>
              <a:buFont typeface="Arial"/>
              <a:buChar char="•"/>
            </a:pPr>
            <a:r>
              <a:rPr lang="en-US" sz="1133" spc="-2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stop</a:t>
            </a:r>
          </a:p>
          <a:p>
            <a:pPr>
              <a:lnSpc>
                <a:spcPts val="1586"/>
              </a:lnSpc>
            </a:pPr>
            <a:endParaRPr lang="en-US" sz="1133" spc="-22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6786512" y="2187078"/>
            <a:ext cx="1649797" cy="3965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586"/>
              </a:lnSpc>
            </a:pPr>
            <a:r>
              <a:rPr lang="en-US" sz="1133" b="1" spc="-22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Shared Memory (write)</a:t>
            </a:r>
          </a:p>
          <a:p>
            <a:pPr marL="244698" lvl="1" indent="-122349">
              <a:lnSpc>
                <a:spcPts val="1586"/>
              </a:lnSpc>
              <a:buFont typeface="Arial"/>
              <a:buChar char="•"/>
            </a:pPr>
            <a:r>
              <a:rPr lang="en-US" sz="1133" spc="-2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goal_valid = 0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682299" y="2181331"/>
            <a:ext cx="1649797" cy="3965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586"/>
              </a:lnSpc>
            </a:pPr>
            <a:r>
              <a:rPr lang="en-US" sz="1133" b="1" spc="-22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Semaphore</a:t>
            </a:r>
          </a:p>
          <a:p>
            <a:pPr marL="244698" lvl="1" indent="-122349">
              <a:lnSpc>
                <a:spcPts val="1586"/>
              </a:lnSpc>
              <a:buFont typeface="Arial"/>
              <a:buChar char="•"/>
            </a:pPr>
            <a:r>
              <a:rPr lang="en-US" sz="1133" spc="-2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g_goal_sem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056735" y="3972560"/>
            <a:ext cx="1632803" cy="1012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586"/>
              </a:lnSpc>
            </a:pPr>
            <a:r>
              <a:rPr lang="en-US" sz="1133" b="1" spc="-22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Beschreibung</a:t>
            </a:r>
            <a:r>
              <a:rPr lang="en-US" sz="1133" spc="-22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:</a:t>
            </a:r>
          </a:p>
          <a:p>
            <a:pPr marL="244698" lvl="1" indent="-122349">
              <a:lnSpc>
                <a:spcPts val="1586"/>
              </a:lnSpc>
              <a:buFont typeface="Arial"/>
              <a:buChar char="•"/>
            </a:pPr>
            <a:r>
              <a:rPr lang="en-US" sz="1133" spc="-22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Liest</a:t>
            </a:r>
            <a:r>
              <a:rPr lang="en-US" sz="1133" spc="-22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133" spc="-22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im</a:t>
            </a:r>
            <a:r>
              <a:rPr lang="en-US" sz="1133" spc="-22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133" spc="-22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stehen</a:t>
            </a:r>
            <a:r>
              <a:rPr lang="en-US" sz="1133" spc="-22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LiDAR- &amp; Odom-</a:t>
            </a:r>
            <a:r>
              <a:rPr lang="en-US" sz="1133" spc="-22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Daten</a:t>
            </a:r>
            <a:r>
              <a:rPr lang="en-US" sz="1133" spc="-22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133" spc="-22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über</a:t>
            </a:r>
            <a:r>
              <a:rPr lang="en-US" sz="1133" spc="-22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TCP und </a:t>
            </a:r>
            <a:r>
              <a:rPr lang="en-US" sz="1133" spc="-22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füllt</a:t>
            </a:r>
            <a:r>
              <a:rPr lang="en-US" sz="1133" spc="-22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Shared Memory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875911" y="3972560"/>
            <a:ext cx="1734403" cy="80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586"/>
              </a:lnSpc>
            </a:pPr>
            <a:r>
              <a:rPr lang="en-US" sz="1133" b="1" spc="-22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Shared Memory (read)</a:t>
            </a:r>
          </a:p>
          <a:p>
            <a:pPr marL="244698" lvl="1" indent="-122349">
              <a:lnSpc>
                <a:spcPts val="1586"/>
              </a:lnSpc>
              <a:buFont typeface="Arial"/>
              <a:buChar char="•"/>
            </a:pPr>
            <a:r>
              <a:rPr lang="en-US" sz="1133" spc="-22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stop</a:t>
            </a:r>
          </a:p>
          <a:p>
            <a:pPr marL="244698" lvl="1" indent="-122349">
              <a:lnSpc>
                <a:spcPts val="1586"/>
              </a:lnSpc>
              <a:buFont typeface="Arial"/>
              <a:buChar char="•"/>
            </a:pPr>
            <a:r>
              <a:rPr lang="en-US" sz="1133" spc="-22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is_goal</a:t>
            </a:r>
            <a:endParaRPr lang="en-US" sz="1133" spc="-22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>
              <a:lnSpc>
                <a:spcPts val="1586"/>
              </a:lnSpc>
            </a:pPr>
            <a:endParaRPr lang="en-US" sz="1133" spc="-22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6796686" y="3972560"/>
            <a:ext cx="1649797" cy="1012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586"/>
              </a:lnSpc>
            </a:pPr>
            <a:r>
              <a:rPr lang="en-US" sz="1133" b="1" spc="-22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Shared Memory (write)</a:t>
            </a:r>
          </a:p>
          <a:p>
            <a:pPr marL="244698" lvl="1" indent="-122349">
              <a:lnSpc>
                <a:spcPts val="1586"/>
              </a:lnSpc>
              <a:buFont typeface="Arial"/>
              <a:buChar char="•"/>
            </a:pPr>
            <a:r>
              <a:rPr lang="en-US" sz="1133" spc="-2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current_pose</a:t>
            </a:r>
          </a:p>
          <a:p>
            <a:pPr marL="244698" lvl="1" indent="-122349">
              <a:lnSpc>
                <a:spcPts val="1586"/>
              </a:lnSpc>
              <a:buFont typeface="Arial"/>
              <a:buChar char="•"/>
            </a:pPr>
            <a:r>
              <a:rPr lang="en-US" sz="1133" spc="-2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lidar_scan</a:t>
            </a:r>
          </a:p>
          <a:p>
            <a:pPr marL="244698" lvl="1" indent="-122349">
              <a:lnSpc>
                <a:spcPts val="1586"/>
              </a:lnSpc>
              <a:buFont typeface="Arial"/>
              <a:buChar char="•"/>
            </a:pPr>
            <a:r>
              <a:rPr lang="en-US" sz="1133" spc="-2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scan_valid</a:t>
            </a:r>
          </a:p>
          <a:p>
            <a:pPr marL="244698" lvl="1" indent="-122349">
              <a:lnSpc>
                <a:spcPts val="1586"/>
              </a:lnSpc>
              <a:buFont typeface="Arial"/>
              <a:buChar char="•"/>
            </a:pPr>
            <a:r>
              <a:rPr lang="en-US" sz="1133" spc="-2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pose_valid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692474" y="3966814"/>
            <a:ext cx="1649797" cy="3965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586"/>
              </a:lnSpc>
            </a:pPr>
            <a:r>
              <a:rPr lang="en-US" sz="1133" b="1" spc="-22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Semaphore</a:t>
            </a:r>
          </a:p>
          <a:p>
            <a:pPr marL="244698" lvl="1" indent="-122349">
              <a:lnSpc>
                <a:spcPts val="1586"/>
              </a:lnSpc>
              <a:buFont typeface="Arial"/>
              <a:buChar char="•"/>
            </a:pPr>
            <a:r>
              <a:rPr lang="en-US" sz="1133" spc="-2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g_scan_sem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3046561" y="5656067"/>
            <a:ext cx="1632803" cy="1012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586"/>
              </a:lnSpc>
            </a:pPr>
            <a:r>
              <a:rPr lang="en-US" sz="1133" b="1" spc="-22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Beschreibung</a:t>
            </a:r>
            <a:r>
              <a:rPr lang="en-US" sz="1133" spc="-2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:</a:t>
            </a:r>
          </a:p>
          <a:p>
            <a:pPr marL="244698" lvl="1" indent="-122349">
              <a:lnSpc>
                <a:spcPts val="1586"/>
              </a:lnSpc>
              <a:buFont typeface="Arial"/>
              <a:buChar char="•"/>
            </a:pPr>
            <a:r>
              <a:rPr lang="en-US" sz="1133" spc="-2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Wartet auf neue Scans, aktualisiert Weltkarte &amp; Frontiers und exportiert CSVs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4865737" y="5656067"/>
            <a:ext cx="1734403" cy="80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586"/>
              </a:lnSpc>
            </a:pPr>
            <a:r>
              <a:rPr lang="en-US" sz="1133" b="1" spc="-22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Shared Memory (read)</a:t>
            </a:r>
          </a:p>
          <a:p>
            <a:pPr marL="244698" lvl="1" indent="-122349">
              <a:lnSpc>
                <a:spcPts val="1586"/>
              </a:lnSpc>
              <a:buFont typeface="Arial"/>
              <a:buChar char="•"/>
            </a:pPr>
            <a:r>
              <a:rPr lang="en-US" sz="1133" spc="-2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current_pose</a:t>
            </a:r>
          </a:p>
          <a:p>
            <a:pPr marL="244698" lvl="1" indent="-122349">
              <a:lnSpc>
                <a:spcPts val="1586"/>
              </a:lnSpc>
              <a:buFont typeface="Arial"/>
              <a:buChar char="•"/>
            </a:pPr>
            <a:r>
              <a:rPr lang="en-US" sz="1133" spc="-2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lidar_scan</a:t>
            </a:r>
          </a:p>
          <a:p>
            <a:pPr>
              <a:lnSpc>
                <a:spcPts val="1586"/>
              </a:lnSpc>
            </a:pPr>
            <a:endParaRPr lang="en-US" sz="1133" spc="-22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6786512" y="5656067"/>
            <a:ext cx="1649797" cy="3965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586"/>
              </a:lnSpc>
            </a:pPr>
            <a:r>
              <a:rPr lang="en-US" sz="1133" b="1" spc="-22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Shared Memory (write)</a:t>
            </a:r>
          </a:p>
          <a:p>
            <a:pPr marL="244698" lvl="1" indent="-122349">
              <a:lnSpc>
                <a:spcPts val="1586"/>
              </a:lnSpc>
              <a:buFont typeface="Arial"/>
              <a:buChar char="•"/>
            </a:pPr>
            <a:r>
              <a:rPr lang="en-US" sz="1133" spc="-2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scan_valid = 0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682299" y="5650320"/>
            <a:ext cx="1649797" cy="3965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586"/>
              </a:lnSpc>
            </a:pPr>
            <a:r>
              <a:rPr lang="en-US" sz="1133" b="1" spc="-22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Semaphore</a:t>
            </a:r>
          </a:p>
          <a:p>
            <a:pPr marL="244698" lvl="1" indent="-122349">
              <a:lnSpc>
                <a:spcPts val="1586"/>
              </a:lnSpc>
              <a:buFont typeface="Arial"/>
              <a:buChar char="•"/>
            </a:pPr>
            <a:r>
              <a:rPr lang="en-US" sz="1133" spc="-2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g_scan_sem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5140313" y="76200"/>
            <a:ext cx="2736904" cy="328973"/>
            <a:chOff x="0" y="0"/>
            <a:chExt cx="660813" cy="79429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660813" cy="79429"/>
            </a:xfrm>
            <a:custGeom>
              <a:avLst/>
              <a:gdLst/>
              <a:ahLst/>
              <a:cxnLst/>
              <a:rect l="l" t="t" r="r" b="b"/>
              <a:pathLst>
                <a:path w="660813" h="79429">
                  <a:moveTo>
                    <a:pt x="26519" y="0"/>
                  </a:moveTo>
                  <a:lnTo>
                    <a:pt x="634294" y="0"/>
                  </a:lnTo>
                  <a:cubicBezTo>
                    <a:pt x="648940" y="0"/>
                    <a:pt x="660813" y="11873"/>
                    <a:pt x="660813" y="26519"/>
                  </a:cubicBezTo>
                  <a:lnTo>
                    <a:pt x="660813" y="52910"/>
                  </a:lnTo>
                  <a:cubicBezTo>
                    <a:pt x="660813" y="67556"/>
                    <a:pt x="648940" y="79429"/>
                    <a:pt x="634294" y="79429"/>
                  </a:cubicBezTo>
                  <a:lnTo>
                    <a:pt x="26519" y="79429"/>
                  </a:lnTo>
                  <a:cubicBezTo>
                    <a:pt x="11873" y="79429"/>
                    <a:pt x="0" y="67556"/>
                    <a:pt x="0" y="52910"/>
                  </a:cubicBezTo>
                  <a:lnTo>
                    <a:pt x="0" y="26519"/>
                  </a:lnTo>
                  <a:cubicBezTo>
                    <a:pt x="0" y="11873"/>
                    <a:pt x="11873" y="0"/>
                    <a:pt x="26519" y="0"/>
                  </a:cubicBezTo>
                  <a:close/>
                </a:path>
              </a:pathLst>
            </a:custGeom>
            <a:solidFill>
              <a:srgbClr val="FFEEE3"/>
            </a:solidFill>
            <a:ln w="28575" cap="sq">
              <a:solidFill>
                <a:srgbClr val="A7888B"/>
              </a:solidFill>
              <a:prstDash val="solid"/>
              <a:miter/>
            </a:ln>
          </p:spPr>
          <p:txBody>
            <a:bodyPr/>
            <a:lstStyle/>
            <a:p>
              <a:endParaRPr lang="de-DE" sz="1200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-38100"/>
              <a:ext cx="660813" cy="117529"/>
            </a:xfrm>
            <a:prstGeom prst="rect">
              <a:avLst/>
            </a:prstGeom>
          </p:spPr>
          <p:txBody>
            <a:bodyPr lIns="47625" tIns="47625" rIns="47625" bIns="47625" rtlCol="0" anchor="ctr"/>
            <a:lstStyle/>
            <a:p>
              <a:pPr algn="ctr">
                <a:lnSpc>
                  <a:spcPts val="1837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45" name="TextBox 45"/>
          <p:cNvSpPr txBox="1"/>
          <p:nvPr/>
        </p:nvSpPr>
        <p:spPr>
          <a:xfrm>
            <a:off x="4806119" y="90512"/>
            <a:ext cx="3299594" cy="2467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47"/>
              </a:lnSpc>
            </a:pPr>
            <a:r>
              <a:rPr lang="en-US" sz="1533" b="1" spc="-3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GOAL THREAD</a:t>
            </a:r>
          </a:p>
        </p:txBody>
      </p:sp>
      <p:grpSp>
        <p:nvGrpSpPr>
          <p:cNvPr id="46" name="Group 46"/>
          <p:cNvGrpSpPr/>
          <p:nvPr/>
        </p:nvGrpSpPr>
        <p:grpSpPr>
          <a:xfrm>
            <a:off x="5140313" y="1807538"/>
            <a:ext cx="2736904" cy="328973"/>
            <a:chOff x="0" y="0"/>
            <a:chExt cx="660813" cy="79429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660813" cy="79429"/>
            </a:xfrm>
            <a:custGeom>
              <a:avLst/>
              <a:gdLst/>
              <a:ahLst/>
              <a:cxnLst/>
              <a:rect l="l" t="t" r="r" b="b"/>
              <a:pathLst>
                <a:path w="660813" h="79429">
                  <a:moveTo>
                    <a:pt x="26519" y="0"/>
                  </a:moveTo>
                  <a:lnTo>
                    <a:pt x="634294" y="0"/>
                  </a:lnTo>
                  <a:cubicBezTo>
                    <a:pt x="648940" y="0"/>
                    <a:pt x="660813" y="11873"/>
                    <a:pt x="660813" y="26519"/>
                  </a:cubicBezTo>
                  <a:lnTo>
                    <a:pt x="660813" y="52910"/>
                  </a:lnTo>
                  <a:cubicBezTo>
                    <a:pt x="660813" y="67556"/>
                    <a:pt x="648940" y="79429"/>
                    <a:pt x="634294" y="79429"/>
                  </a:cubicBezTo>
                  <a:lnTo>
                    <a:pt x="26519" y="79429"/>
                  </a:lnTo>
                  <a:cubicBezTo>
                    <a:pt x="11873" y="79429"/>
                    <a:pt x="0" y="67556"/>
                    <a:pt x="0" y="52910"/>
                  </a:cubicBezTo>
                  <a:lnTo>
                    <a:pt x="0" y="26519"/>
                  </a:lnTo>
                  <a:cubicBezTo>
                    <a:pt x="0" y="11873"/>
                    <a:pt x="11873" y="0"/>
                    <a:pt x="26519" y="0"/>
                  </a:cubicBezTo>
                  <a:close/>
                </a:path>
              </a:pathLst>
            </a:custGeom>
            <a:solidFill>
              <a:srgbClr val="FFE3FB"/>
            </a:solidFill>
            <a:ln w="28575" cap="sq">
              <a:solidFill>
                <a:srgbClr val="A7888B"/>
              </a:solidFill>
              <a:prstDash val="solid"/>
              <a:miter/>
            </a:ln>
          </p:spPr>
          <p:txBody>
            <a:bodyPr/>
            <a:lstStyle/>
            <a:p>
              <a:endParaRPr lang="de-DE" sz="1200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-38100"/>
              <a:ext cx="660813" cy="117529"/>
            </a:xfrm>
            <a:prstGeom prst="rect">
              <a:avLst/>
            </a:prstGeom>
          </p:spPr>
          <p:txBody>
            <a:bodyPr lIns="47625" tIns="47625" rIns="47625" bIns="47625" rtlCol="0" anchor="ctr"/>
            <a:lstStyle/>
            <a:p>
              <a:pPr algn="ctr">
                <a:lnSpc>
                  <a:spcPts val="1837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49" name="TextBox 49"/>
          <p:cNvSpPr txBox="1"/>
          <p:nvPr/>
        </p:nvSpPr>
        <p:spPr>
          <a:xfrm>
            <a:off x="4806119" y="1821850"/>
            <a:ext cx="3299594" cy="2467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47"/>
              </a:lnSpc>
            </a:pPr>
            <a:r>
              <a:rPr lang="en-US" sz="1533" b="1" spc="-3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CONTROLLER THREAD</a:t>
            </a:r>
          </a:p>
        </p:txBody>
      </p:sp>
      <p:grpSp>
        <p:nvGrpSpPr>
          <p:cNvPr id="50" name="Group 50"/>
          <p:cNvGrpSpPr/>
          <p:nvPr/>
        </p:nvGrpSpPr>
        <p:grpSpPr>
          <a:xfrm>
            <a:off x="5193163" y="3567991"/>
            <a:ext cx="2736904" cy="328973"/>
            <a:chOff x="0" y="0"/>
            <a:chExt cx="660813" cy="79429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660813" cy="79429"/>
            </a:xfrm>
            <a:custGeom>
              <a:avLst/>
              <a:gdLst/>
              <a:ahLst/>
              <a:cxnLst/>
              <a:rect l="l" t="t" r="r" b="b"/>
              <a:pathLst>
                <a:path w="660813" h="79429">
                  <a:moveTo>
                    <a:pt x="26519" y="0"/>
                  </a:moveTo>
                  <a:lnTo>
                    <a:pt x="634294" y="0"/>
                  </a:lnTo>
                  <a:cubicBezTo>
                    <a:pt x="648940" y="0"/>
                    <a:pt x="660813" y="11873"/>
                    <a:pt x="660813" y="26519"/>
                  </a:cubicBezTo>
                  <a:lnTo>
                    <a:pt x="660813" y="52910"/>
                  </a:lnTo>
                  <a:cubicBezTo>
                    <a:pt x="660813" y="67556"/>
                    <a:pt x="648940" y="79429"/>
                    <a:pt x="634294" y="79429"/>
                  </a:cubicBezTo>
                  <a:lnTo>
                    <a:pt x="26519" y="79429"/>
                  </a:lnTo>
                  <a:cubicBezTo>
                    <a:pt x="11873" y="79429"/>
                    <a:pt x="0" y="67556"/>
                    <a:pt x="0" y="52910"/>
                  </a:cubicBezTo>
                  <a:lnTo>
                    <a:pt x="0" y="26519"/>
                  </a:lnTo>
                  <a:cubicBezTo>
                    <a:pt x="0" y="11873"/>
                    <a:pt x="11873" y="0"/>
                    <a:pt x="26519" y="0"/>
                  </a:cubicBezTo>
                  <a:close/>
                </a:path>
              </a:pathLst>
            </a:custGeom>
            <a:solidFill>
              <a:srgbClr val="E4FFE3"/>
            </a:solidFill>
            <a:ln w="28575" cap="sq">
              <a:solidFill>
                <a:srgbClr val="A7888B"/>
              </a:solidFill>
              <a:prstDash val="solid"/>
              <a:miter/>
            </a:ln>
          </p:spPr>
          <p:txBody>
            <a:bodyPr/>
            <a:lstStyle/>
            <a:p>
              <a:endParaRPr lang="de-DE" sz="1200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0" y="-38100"/>
              <a:ext cx="660813" cy="117529"/>
            </a:xfrm>
            <a:prstGeom prst="rect">
              <a:avLst/>
            </a:prstGeom>
          </p:spPr>
          <p:txBody>
            <a:bodyPr lIns="47625" tIns="47625" rIns="47625" bIns="47625" rtlCol="0" anchor="ctr"/>
            <a:lstStyle/>
            <a:p>
              <a:pPr algn="ctr">
                <a:lnSpc>
                  <a:spcPts val="1837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53" name="TextBox 53"/>
          <p:cNvSpPr txBox="1"/>
          <p:nvPr/>
        </p:nvSpPr>
        <p:spPr>
          <a:xfrm>
            <a:off x="4858968" y="3582302"/>
            <a:ext cx="3299594" cy="2467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47"/>
              </a:lnSpc>
            </a:pPr>
            <a:r>
              <a:rPr lang="en-US" sz="1533" b="1" spc="-3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SENSOR THREAD</a:t>
            </a:r>
          </a:p>
        </p:txBody>
      </p:sp>
      <p:grpSp>
        <p:nvGrpSpPr>
          <p:cNvPr id="54" name="Group 54"/>
          <p:cNvGrpSpPr/>
          <p:nvPr/>
        </p:nvGrpSpPr>
        <p:grpSpPr>
          <a:xfrm>
            <a:off x="5140313" y="5209262"/>
            <a:ext cx="2736904" cy="328973"/>
            <a:chOff x="0" y="0"/>
            <a:chExt cx="660813" cy="79429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660813" cy="79429"/>
            </a:xfrm>
            <a:custGeom>
              <a:avLst/>
              <a:gdLst/>
              <a:ahLst/>
              <a:cxnLst/>
              <a:rect l="l" t="t" r="r" b="b"/>
              <a:pathLst>
                <a:path w="660813" h="79429">
                  <a:moveTo>
                    <a:pt x="26519" y="0"/>
                  </a:moveTo>
                  <a:lnTo>
                    <a:pt x="634294" y="0"/>
                  </a:lnTo>
                  <a:cubicBezTo>
                    <a:pt x="648940" y="0"/>
                    <a:pt x="660813" y="11873"/>
                    <a:pt x="660813" y="26519"/>
                  </a:cubicBezTo>
                  <a:lnTo>
                    <a:pt x="660813" y="52910"/>
                  </a:lnTo>
                  <a:cubicBezTo>
                    <a:pt x="660813" y="67556"/>
                    <a:pt x="648940" y="79429"/>
                    <a:pt x="634294" y="79429"/>
                  </a:cubicBezTo>
                  <a:lnTo>
                    <a:pt x="26519" y="79429"/>
                  </a:lnTo>
                  <a:cubicBezTo>
                    <a:pt x="11873" y="79429"/>
                    <a:pt x="0" y="67556"/>
                    <a:pt x="0" y="52910"/>
                  </a:cubicBezTo>
                  <a:lnTo>
                    <a:pt x="0" y="26519"/>
                  </a:lnTo>
                  <a:cubicBezTo>
                    <a:pt x="0" y="11873"/>
                    <a:pt x="11873" y="0"/>
                    <a:pt x="26519" y="0"/>
                  </a:cubicBezTo>
                  <a:close/>
                </a:path>
              </a:pathLst>
            </a:custGeom>
            <a:solidFill>
              <a:srgbClr val="E3F2FF"/>
            </a:solidFill>
            <a:ln w="28575" cap="sq">
              <a:solidFill>
                <a:srgbClr val="A7888B"/>
              </a:solidFill>
              <a:prstDash val="solid"/>
              <a:miter/>
            </a:ln>
          </p:spPr>
          <p:txBody>
            <a:bodyPr/>
            <a:lstStyle/>
            <a:p>
              <a:endParaRPr lang="de-DE" sz="1200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0" y="-38100"/>
              <a:ext cx="660813" cy="117529"/>
            </a:xfrm>
            <a:prstGeom prst="rect">
              <a:avLst/>
            </a:prstGeom>
          </p:spPr>
          <p:txBody>
            <a:bodyPr lIns="47625" tIns="47625" rIns="47625" bIns="47625" rtlCol="0" anchor="ctr"/>
            <a:lstStyle/>
            <a:p>
              <a:pPr algn="ctr">
                <a:lnSpc>
                  <a:spcPts val="1837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57" name="TextBox 57"/>
          <p:cNvSpPr txBox="1"/>
          <p:nvPr/>
        </p:nvSpPr>
        <p:spPr>
          <a:xfrm>
            <a:off x="4806119" y="5223573"/>
            <a:ext cx="3299594" cy="2467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47"/>
              </a:lnSpc>
            </a:pPr>
            <a:r>
              <a:rPr lang="en-US" sz="1533" b="1" spc="-3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MAPPING THREAD</a:t>
            </a:r>
          </a:p>
        </p:txBody>
      </p:sp>
      <p:grpSp>
        <p:nvGrpSpPr>
          <p:cNvPr id="58" name="Group 58"/>
          <p:cNvGrpSpPr/>
          <p:nvPr/>
        </p:nvGrpSpPr>
        <p:grpSpPr>
          <a:xfrm>
            <a:off x="205968" y="1793246"/>
            <a:ext cx="2000001" cy="375446"/>
            <a:chOff x="0" y="0"/>
            <a:chExt cx="482891" cy="90650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482891" cy="90650"/>
            </a:xfrm>
            <a:custGeom>
              <a:avLst/>
              <a:gdLst/>
              <a:ahLst/>
              <a:cxnLst/>
              <a:rect l="l" t="t" r="r" b="b"/>
              <a:pathLst>
                <a:path w="482891" h="90650">
                  <a:moveTo>
                    <a:pt x="36290" y="0"/>
                  </a:moveTo>
                  <a:lnTo>
                    <a:pt x="446601" y="0"/>
                  </a:lnTo>
                  <a:cubicBezTo>
                    <a:pt x="466643" y="0"/>
                    <a:pt x="482891" y="16248"/>
                    <a:pt x="482891" y="36290"/>
                  </a:cubicBezTo>
                  <a:lnTo>
                    <a:pt x="482891" y="54359"/>
                  </a:lnTo>
                  <a:cubicBezTo>
                    <a:pt x="482891" y="63984"/>
                    <a:pt x="479067" y="73215"/>
                    <a:pt x="472262" y="80021"/>
                  </a:cubicBezTo>
                  <a:cubicBezTo>
                    <a:pt x="465456" y="86826"/>
                    <a:pt x="456225" y="90650"/>
                    <a:pt x="446601" y="90650"/>
                  </a:cubicBezTo>
                  <a:lnTo>
                    <a:pt x="36290" y="90650"/>
                  </a:lnTo>
                  <a:cubicBezTo>
                    <a:pt x="16248" y="90650"/>
                    <a:pt x="0" y="74402"/>
                    <a:pt x="0" y="54359"/>
                  </a:cubicBezTo>
                  <a:lnTo>
                    <a:pt x="0" y="36290"/>
                  </a:lnTo>
                  <a:cubicBezTo>
                    <a:pt x="0" y="16248"/>
                    <a:pt x="16248" y="0"/>
                    <a:pt x="36290" y="0"/>
                  </a:cubicBezTo>
                  <a:close/>
                </a:path>
              </a:pathLst>
            </a:custGeom>
            <a:solidFill>
              <a:srgbClr val="E0CFFF"/>
            </a:solidFill>
            <a:ln w="28575" cap="sq">
              <a:solidFill>
                <a:srgbClr val="A7888B"/>
              </a:solidFill>
              <a:prstDash val="solid"/>
              <a:miter/>
            </a:ln>
          </p:spPr>
          <p:txBody>
            <a:bodyPr/>
            <a:lstStyle/>
            <a:p>
              <a:endParaRPr lang="de-DE" sz="1200"/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0" y="-38100"/>
              <a:ext cx="482891" cy="128750"/>
            </a:xfrm>
            <a:prstGeom prst="rect">
              <a:avLst/>
            </a:prstGeom>
          </p:spPr>
          <p:txBody>
            <a:bodyPr lIns="47625" tIns="47625" rIns="47625" bIns="47625" rtlCol="0" anchor="ctr"/>
            <a:lstStyle/>
            <a:p>
              <a:pPr algn="ctr">
                <a:lnSpc>
                  <a:spcPts val="1837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61" name="TextBox 61"/>
          <p:cNvSpPr txBox="1"/>
          <p:nvPr/>
        </p:nvSpPr>
        <p:spPr>
          <a:xfrm>
            <a:off x="-451830" y="1835342"/>
            <a:ext cx="3299594" cy="2467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47"/>
              </a:lnSpc>
            </a:pPr>
            <a:r>
              <a:rPr lang="en-US" sz="1533" b="1" spc="-3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NETWORK THREAD</a:t>
            </a:r>
          </a:p>
        </p:txBody>
      </p:sp>
      <p:grpSp>
        <p:nvGrpSpPr>
          <p:cNvPr id="62" name="Group 62"/>
          <p:cNvGrpSpPr/>
          <p:nvPr/>
        </p:nvGrpSpPr>
        <p:grpSpPr>
          <a:xfrm rot="-5400000">
            <a:off x="10338654" y="2513011"/>
            <a:ext cx="2135981" cy="1382980"/>
            <a:chOff x="0" y="0"/>
            <a:chExt cx="843844" cy="546362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843844" cy="546362"/>
            </a:xfrm>
            <a:custGeom>
              <a:avLst/>
              <a:gdLst/>
              <a:ahLst/>
              <a:cxnLst/>
              <a:rect l="l" t="t" r="r" b="b"/>
              <a:pathLst>
                <a:path w="843844" h="546362">
                  <a:moveTo>
                    <a:pt x="50970" y="0"/>
                  </a:moveTo>
                  <a:lnTo>
                    <a:pt x="792875" y="0"/>
                  </a:lnTo>
                  <a:cubicBezTo>
                    <a:pt x="821024" y="0"/>
                    <a:pt x="843844" y="22820"/>
                    <a:pt x="843844" y="50970"/>
                  </a:cubicBezTo>
                  <a:lnTo>
                    <a:pt x="843844" y="495393"/>
                  </a:lnTo>
                  <a:cubicBezTo>
                    <a:pt x="843844" y="523542"/>
                    <a:pt x="821024" y="546362"/>
                    <a:pt x="792875" y="546362"/>
                  </a:cubicBezTo>
                  <a:lnTo>
                    <a:pt x="50970" y="546362"/>
                  </a:lnTo>
                  <a:cubicBezTo>
                    <a:pt x="22820" y="546362"/>
                    <a:pt x="0" y="523542"/>
                    <a:pt x="0" y="495393"/>
                  </a:cubicBezTo>
                  <a:lnTo>
                    <a:pt x="0" y="50970"/>
                  </a:lnTo>
                  <a:cubicBezTo>
                    <a:pt x="0" y="22820"/>
                    <a:pt x="22820" y="0"/>
                    <a:pt x="50970" y="0"/>
                  </a:cubicBezTo>
                  <a:close/>
                </a:path>
              </a:pathLst>
            </a:custGeom>
            <a:solidFill>
              <a:srgbClr val="E0CFFF"/>
            </a:solidFill>
            <a:ln w="28575" cap="rnd">
              <a:solidFill>
                <a:srgbClr val="A7888B"/>
              </a:solidFill>
              <a:prstDash val="solid"/>
              <a:round/>
            </a:ln>
          </p:spPr>
          <p:txBody>
            <a:bodyPr/>
            <a:lstStyle/>
            <a:p>
              <a:endParaRPr lang="de-DE" sz="1200"/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0" y="-38100"/>
              <a:ext cx="843844" cy="584462"/>
            </a:xfrm>
            <a:prstGeom prst="rect">
              <a:avLst/>
            </a:prstGeom>
          </p:spPr>
          <p:txBody>
            <a:bodyPr lIns="47625" tIns="47625" rIns="47625" bIns="47625" rtlCol="0" anchor="ctr"/>
            <a:lstStyle/>
            <a:p>
              <a:pPr algn="ctr">
                <a:lnSpc>
                  <a:spcPts val="1837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65" name="TextBox 65"/>
          <p:cNvSpPr txBox="1"/>
          <p:nvPr/>
        </p:nvSpPr>
        <p:spPr>
          <a:xfrm>
            <a:off x="10829455" y="2181331"/>
            <a:ext cx="1268680" cy="2448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586"/>
              </a:lnSpc>
            </a:pPr>
            <a:r>
              <a:rPr lang="en-US" sz="1133" b="1" spc="-22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wenn stop = 1:</a:t>
            </a:r>
          </a:p>
          <a:p>
            <a:pPr>
              <a:lnSpc>
                <a:spcPts val="1586"/>
              </a:lnSpc>
            </a:pPr>
            <a:endParaRPr lang="en-US" sz="1133" b="1" spc="-22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>
              <a:lnSpc>
                <a:spcPts val="1586"/>
              </a:lnSpc>
            </a:pPr>
            <a:r>
              <a:rPr lang="en-US" sz="1133" spc="-2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alle Threads werden beendet</a:t>
            </a:r>
          </a:p>
          <a:p>
            <a:pPr>
              <a:lnSpc>
                <a:spcPts val="1586"/>
              </a:lnSpc>
            </a:pPr>
            <a:endParaRPr lang="en-US" sz="1133" spc="-22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>
              <a:lnSpc>
                <a:spcPts val="1586"/>
              </a:lnSpc>
            </a:pPr>
            <a:r>
              <a:rPr lang="en-US" sz="1133" spc="-2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Netzwerk wird getrennt</a:t>
            </a:r>
          </a:p>
          <a:p>
            <a:pPr>
              <a:lnSpc>
                <a:spcPts val="1586"/>
              </a:lnSpc>
            </a:pPr>
            <a:endParaRPr lang="en-US" sz="1133" spc="-22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>
              <a:lnSpc>
                <a:spcPts val="1586"/>
              </a:lnSpc>
            </a:pPr>
            <a:r>
              <a:rPr lang="en-US" sz="1133" spc="-2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Shared Memory wird aufgeräumt</a:t>
            </a:r>
          </a:p>
          <a:p>
            <a:pPr>
              <a:lnSpc>
                <a:spcPts val="1586"/>
              </a:lnSpc>
            </a:pPr>
            <a:endParaRPr lang="en-US" sz="1133" spc="-22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>
              <a:lnSpc>
                <a:spcPts val="1586"/>
              </a:lnSpc>
            </a:pPr>
            <a:endParaRPr lang="en-US" sz="1133" spc="-22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6" name="AutoShape 66"/>
          <p:cNvSpPr/>
          <p:nvPr/>
        </p:nvSpPr>
        <p:spPr>
          <a:xfrm>
            <a:off x="8978171" y="1033442"/>
            <a:ext cx="0" cy="1047911"/>
          </a:xfrm>
          <a:prstGeom prst="line">
            <a:avLst/>
          </a:prstGeom>
          <a:ln w="57150" cap="flat">
            <a:solidFill>
              <a:srgbClr val="A7888B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de-DE" sz="1200"/>
          </a:p>
        </p:txBody>
      </p:sp>
      <p:sp>
        <p:nvSpPr>
          <p:cNvPr id="67" name="AutoShape 67"/>
          <p:cNvSpPr/>
          <p:nvPr/>
        </p:nvSpPr>
        <p:spPr>
          <a:xfrm>
            <a:off x="9409250" y="1033442"/>
            <a:ext cx="0" cy="1047911"/>
          </a:xfrm>
          <a:prstGeom prst="line">
            <a:avLst/>
          </a:prstGeom>
          <a:ln w="57150" cap="flat">
            <a:solidFill>
              <a:srgbClr val="A7888B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endParaRPr lang="de-DE" sz="1200"/>
          </a:p>
        </p:txBody>
      </p:sp>
      <p:sp>
        <p:nvSpPr>
          <p:cNvPr id="68" name="TextBox 68"/>
          <p:cNvSpPr txBox="1"/>
          <p:nvPr/>
        </p:nvSpPr>
        <p:spPr>
          <a:xfrm rot="-5400000">
            <a:off x="8081463" y="846357"/>
            <a:ext cx="1453903" cy="191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586"/>
              </a:lnSpc>
            </a:pPr>
            <a:r>
              <a:rPr lang="en-US" sz="1133" spc="-22">
                <a:solidFill>
                  <a:srgbClr val="A7888B"/>
                </a:solidFill>
                <a:latin typeface="Open Sans"/>
                <a:ea typeface="Open Sans"/>
                <a:cs typeface="Open Sans"/>
                <a:sym typeface="Open Sans"/>
              </a:rPr>
              <a:t>release</a:t>
            </a:r>
          </a:p>
        </p:txBody>
      </p:sp>
      <p:sp>
        <p:nvSpPr>
          <p:cNvPr id="69" name="TextBox 69"/>
          <p:cNvSpPr txBox="1"/>
          <p:nvPr/>
        </p:nvSpPr>
        <p:spPr>
          <a:xfrm rot="5400000">
            <a:off x="8882292" y="1825052"/>
            <a:ext cx="1453903" cy="191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586"/>
              </a:lnSpc>
            </a:pPr>
            <a:r>
              <a:rPr lang="en-US" sz="1133" spc="-22" dirty="0">
                <a:solidFill>
                  <a:srgbClr val="A7888B"/>
                </a:solidFill>
                <a:latin typeface="Open Sans"/>
                <a:ea typeface="Open Sans"/>
                <a:cs typeface="Open Sans"/>
                <a:sym typeface="Open Sans"/>
              </a:rPr>
              <a:t>acquire</a:t>
            </a:r>
          </a:p>
        </p:txBody>
      </p:sp>
      <p:sp>
        <p:nvSpPr>
          <p:cNvPr id="70" name="AutoShape 70"/>
          <p:cNvSpPr/>
          <p:nvPr/>
        </p:nvSpPr>
        <p:spPr>
          <a:xfrm>
            <a:off x="8935189" y="4616506"/>
            <a:ext cx="0" cy="984779"/>
          </a:xfrm>
          <a:prstGeom prst="line">
            <a:avLst/>
          </a:prstGeom>
          <a:ln w="57150" cap="flat">
            <a:solidFill>
              <a:srgbClr val="A7888B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de-DE" sz="1200"/>
          </a:p>
        </p:txBody>
      </p:sp>
      <p:sp>
        <p:nvSpPr>
          <p:cNvPr id="71" name="AutoShape 71"/>
          <p:cNvSpPr/>
          <p:nvPr/>
        </p:nvSpPr>
        <p:spPr>
          <a:xfrm>
            <a:off x="9358054" y="4553374"/>
            <a:ext cx="0" cy="1047911"/>
          </a:xfrm>
          <a:prstGeom prst="line">
            <a:avLst/>
          </a:prstGeom>
          <a:ln w="57150" cap="flat">
            <a:solidFill>
              <a:srgbClr val="A7888B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endParaRPr lang="de-DE" sz="1200"/>
          </a:p>
        </p:txBody>
      </p:sp>
      <p:sp>
        <p:nvSpPr>
          <p:cNvPr id="72" name="TextBox 72"/>
          <p:cNvSpPr txBox="1"/>
          <p:nvPr/>
        </p:nvSpPr>
        <p:spPr>
          <a:xfrm rot="-5400000">
            <a:off x="8073439" y="4155699"/>
            <a:ext cx="1453903" cy="191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586"/>
              </a:lnSpc>
            </a:pPr>
            <a:r>
              <a:rPr lang="en-US" sz="1133" spc="-22">
                <a:solidFill>
                  <a:srgbClr val="A7888B"/>
                </a:solidFill>
                <a:latin typeface="Open Sans"/>
                <a:ea typeface="Open Sans"/>
                <a:cs typeface="Open Sans"/>
                <a:sym typeface="Open Sans"/>
              </a:rPr>
              <a:t>release</a:t>
            </a:r>
          </a:p>
        </p:txBody>
      </p:sp>
      <p:sp>
        <p:nvSpPr>
          <p:cNvPr id="73" name="TextBox 73"/>
          <p:cNvSpPr txBox="1"/>
          <p:nvPr/>
        </p:nvSpPr>
        <p:spPr>
          <a:xfrm rot="5400000">
            <a:off x="8823003" y="5184626"/>
            <a:ext cx="1453903" cy="191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586"/>
              </a:lnSpc>
            </a:pPr>
            <a:r>
              <a:rPr lang="en-US" sz="1133" spc="-22">
                <a:solidFill>
                  <a:srgbClr val="A7888B"/>
                </a:solidFill>
                <a:latin typeface="Open Sans"/>
                <a:ea typeface="Open Sans"/>
                <a:cs typeface="Open Sans"/>
                <a:sym typeface="Open Sans"/>
              </a:rPr>
              <a:t>acquire</a:t>
            </a:r>
          </a:p>
        </p:txBody>
      </p:sp>
      <p:pic>
        <p:nvPicPr>
          <p:cNvPr id="78" name="Grafik 77">
            <a:extLst>
              <a:ext uri="{FF2B5EF4-FFF2-40B4-BE49-F238E27FC236}">
                <a16:creationId xmlns:a16="http://schemas.microsoft.com/office/drawing/2014/main" id="{68B83221-1890-D66F-5628-F05EC2CA51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9701" y="5313357"/>
            <a:ext cx="1358922" cy="1413410"/>
          </a:xfrm>
          <a:prstGeom prst="rect">
            <a:avLst/>
          </a:prstGeom>
        </p:spPr>
      </p:pic>
      <p:pic>
        <p:nvPicPr>
          <p:cNvPr id="79" name="Grafik 78">
            <a:extLst>
              <a:ext uri="{FF2B5EF4-FFF2-40B4-BE49-F238E27FC236}">
                <a16:creationId xmlns:a16="http://schemas.microsoft.com/office/drawing/2014/main" id="{EE039BEB-F4A1-D4D5-787F-24DCCBD781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3600" y="5318133"/>
            <a:ext cx="1349723" cy="140410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979</Words>
  <Application>Microsoft Office PowerPoint</Application>
  <PresentationFormat>Breitbild</PresentationFormat>
  <Paragraphs>188</Paragraphs>
  <Slides>15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9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15</vt:i4>
      </vt:variant>
    </vt:vector>
  </HeadingPairs>
  <TitlesOfParts>
    <vt:vector size="25" baseType="lpstr">
      <vt:lpstr>Aptos</vt:lpstr>
      <vt:lpstr>Arial</vt:lpstr>
      <vt:lpstr>Bahnschrift</vt:lpstr>
      <vt:lpstr>Calibri</vt:lpstr>
      <vt:lpstr>Calibri Light</vt:lpstr>
      <vt:lpstr>Cambria Math</vt:lpstr>
      <vt:lpstr>Canva Sans Bold</vt:lpstr>
      <vt:lpstr>Open Sans</vt:lpstr>
      <vt:lpstr>Open Sans Bold</vt:lpstr>
      <vt:lpstr>Office</vt:lpstr>
      <vt:lpstr>Donatello</vt:lpstr>
      <vt:lpstr>Sein Team</vt:lpstr>
      <vt:lpstr>Linearer Regler - Konzept</vt:lpstr>
      <vt:lpstr>Linearer Regler - Regelprinzip Pose to Pose</vt:lpstr>
      <vt:lpstr>Linearer Regler - Sicherheits und Ziel Logik</vt:lpstr>
      <vt:lpstr>Connection - Aufgabe</vt:lpstr>
      <vt:lpstr>Connection - Messages</vt:lpstr>
      <vt:lpstr>Connection - Auswerten</vt:lpstr>
      <vt:lpstr>Connection - Controll Message</vt:lpstr>
      <vt:lpstr>Position - Odometie -&gt; 2D Pose</vt:lpstr>
      <vt:lpstr>Position - Ablauf</vt:lpstr>
      <vt:lpstr>Karte – scan_to_data</vt:lpstr>
      <vt:lpstr>Karte – data_to_world</vt:lpstr>
      <vt:lpstr>Karte - Export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Milan</dc:creator>
  <cp:lastModifiedBy>Felix Leonbacher</cp:lastModifiedBy>
  <cp:revision>3</cp:revision>
  <dcterms:created xsi:type="dcterms:W3CDTF">2019-03-28T08:56:36Z</dcterms:created>
  <dcterms:modified xsi:type="dcterms:W3CDTF">2025-12-12T21:55:17Z</dcterms:modified>
</cp:coreProperties>
</file>